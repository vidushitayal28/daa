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ea9d40c-4d35-e889-9ceb-d0af8735b085}">
          <p14:sldIdLst>
            <p14:sldId id="256"/>
            <p14:sldId id="257"/>
            <p14:sldId id="258"/>
            <p14:sldId id="259"/>
          </p14:sldIdLst>
        </p14:section>
        <p14:section name="Algorithm" id="{cc1649bc-6c88-6b75-4180-8e5d6aca4492}">
          <p14:sldIdLst>
            <p14:sldId id="260"/>
            <p14:sldId id="261"/>
            <p14:sldId id="262"/>
            <p14:sldId id="263"/>
          </p14:sldIdLst>
        </p14:section>
        <p14:section name="Analysis" id="{20458499-e27f-5046-5b7b-c01160a2c2e4}">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explain Dijkstra's algorithm, a classic method from our Design and Analysis of Algorithms course for finding the shortest route in a weighted graph. I will show the idea, work through one example by hand, and then talk about complexity and real-world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shortest-path problem asks: given a map of connected places, what is the cheapest way to get from one place to another? In graph language, places are vertices, connections are edges, and the cost on each edge is its weight. Finding cheap routes matters everywhere: maps, networks and logistics.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Dijkstra's algorithm was proposed by Edsger Dijkstra in 1956. It is greedy: at every step it picks the closest vertex it has not finished yet, and locks in that distance. This is safe only when no edge weight is negative, because then a longer route can never become shorter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shows the key words. A is the source, F is the destination. Each edge has a weight. The small d labels are tentative distances, our best guess so far. Blue vertex C is visited, meaning its distance is final. The white vertices are still unvisited, so their distances can still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giving the source distance zero and every other vertex infinity, since we know nothing about them yet. Then loop: pick the unvisited vertex with the smallest distance, update its neighbours if going through it is cheaper, and mark it visited. Stop when all the distances we need are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graph with source A. Each row of the table is one iteration. In iteration 1 we pick A and set B to 4 and C to 2. Then C is closest, and going through C improves B from 4 to 3. Next B improves D from 10 to 8, D improves E from 12 to 10, and finally E improves F from 14 to 13. Highlighted cells changed in that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 edges show the final shortest-path tree. Every distance can be checked by adding edge weights along the path: B is 2 plus 1, which is 3; D is 3 plus 5, which is 8; E is 8 plus 2, which is 10; F is 10 plus 3, which is 13. The direct alternatives all cost more, so the answer is correct. The shortest route from A to F is A, C, B, D, E, F with length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pseudocode follows our steps exactly. First we initialize distances and predecessors. Then, while vertices remain, we pick the one with the smallest distance, remove it, and try to improve each neighbour. The prev array lets us rebuild the actual path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an array or adjacency matrix, we scan all V vertices to find the minimum, V times, so time is order V squared. With an adjacency list and a binary min-heap, each edge update and each extraction costs log V, giving order V plus E times log V. Storing the graph as an adjacency list needs space proportional to V plus E. V is the number of vertices and E is the number of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Dijkstra's algorithm is everywhere. Navigation apps use it to find the fastest road route. Networks use it to choose cheap paths for data. Internet routing protocols such as OSPF run it on link costs. Transport planners use it for bus, rail and flight routes, and robots use it to plan safe paths through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 is efficient and gives all shortest paths from one source, and a min-heap makes it faster. Its main limit is negative edge weights: once a vertex is finalized we never revisit it, so a later negative edge could break the answer. For negative edges, use Bellman-Ford, as long as no negative cycle that matters is 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Dijkstra's algorithm is greedy, always finalizing the closest unvisited vertex. In our example it gave A to F as 13 along A, C, B, D, E, F. It runs in order V squared with an array or order V plus E log V with a heap, and it powers GPS, routing and robotics.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457200" y="4773168"/>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Dijkstra's Algorithm  |  DAA</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4754880" cy="17373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TOP">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4754880" cy="1737360"/>
          </a:xfrm>
          <a:prstGeom prst="rect">
            <a:avLst/>
          </a:prstGeom>
          <a:noFill/>
          <a:ln/>
        </p:spPr>
        <p:txBody>
          <a:bodyPr wrap="square" lIns="0" tIns="0" rIns="0" bIns="0" rtlCol="0" anchor="t"/>
          <a:lstStyle/>
          <a:p>
            <a:pPr algn="l" indent="0" marL="0">
              <a:buNone/>
            </a:pPr>
            <a:r>
              <a:rPr lang="en-US" sz="3800" b="1" dirty="0">
                <a:solidFill>
                  <a:schemeClr val="bg1"/>
                </a:solidFill>
              </a:rPr>
              <a:t>Dijkstra's Algorithm — Finding the Shortest Path</a:t>
            </a:r>
            <a:endParaRPr lang="en-US" sz="3800" dirty="0"/>
          </a:p>
        </p:txBody>
      </p:sp>
      <p:sp>
        <p:nvSpPr>
          <p:cNvPr id="4" name="Text 1"/>
          <p:cNvSpPr txBox="1"/>
          <p:nvPr/>
        </p:nvSpPr>
        <p:spPr>
          <a:xfrm>
            <a:off x="548640" y="2560320"/>
            <a:ext cx="4754880" cy="365760"/>
          </a:xfrm>
          <a:prstGeom prst="rect">
            <a:avLst/>
          </a:prstGeom>
          <a:noFill/>
          <a:ln/>
        </p:spPr>
        <p:txBody>
          <a:bodyPr wrap="square" lIns="0" tIns="0" rIns="0" bIns="0" rtlCol="0" anchor="t"/>
          <a:lstStyle/>
          <a:p>
            <a:pPr indent="0" marL="0">
              <a:buNone/>
            </a:pPr>
            <a:r>
              <a:rPr lang="en-US" sz="1800" b="1" dirty="0">
                <a:solidFill>
                  <a:schemeClr val="accent2"/>
                </a:solidFill>
              </a:rPr>
              <a:t>Design and Analysis of Algorithms</a:t>
            </a:r>
            <a:endParaRPr lang="en-US" sz="1800" dirty="0"/>
          </a:p>
        </p:txBody>
      </p:sp>
      <p:sp>
        <p:nvSpPr>
          <p:cNvPr id="5" name="Shape 2"/>
          <p:cNvSpPr/>
          <p:nvPr/>
        </p:nvSpPr>
        <p:spPr>
          <a:xfrm>
            <a:off x="548640" y="3108960"/>
            <a:ext cx="4572000" cy="1463040"/>
          </a:xfrm>
          <a:prstGeom prst="roundRect">
            <a:avLst>
              <a:gd name="adj" fmla="val 7500"/>
            </a:avLst>
          </a:prstGeom>
          <a:solidFill>
            <a:srgbClr val="16305F"/>
          </a:solidFill>
          <a:ln/>
        </p:spPr>
      </p:sp>
      <p:sp>
        <p:nvSpPr>
          <p:cNvPr id="6" name="Text 3"/>
          <p:cNvSpPr txBox="1"/>
          <p:nvPr/>
        </p:nvSpPr>
        <p:spPr>
          <a:xfrm>
            <a:off x="777240" y="3291840"/>
            <a:ext cx="4206240" cy="1188720"/>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Name: </a:t>
            </a:r>
            <a:pPr indent="0" marL="0">
              <a:spcAft>
                <a:spcPts val="400"/>
              </a:spcAft>
              <a:buNone/>
            </a:pPr>
            <a:r>
              <a:rPr lang="en-US" sz="1400" dirty="0">
                <a:solidFill>
                  <a:schemeClr val="bg1"/>
                </a:solidFill>
              </a:rPr>
              <a:t>Vidushi Tayal</a:t>
            </a:r>
            <a:endParaRPr lang="en-US" sz="1400" dirty="0"/>
          </a:p>
          <a:p>
            <a:pPr indent="0" marL="0">
              <a:spcAft>
                <a:spcPts val="400"/>
              </a:spcAft>
              <a:buNone/>
            </a:pPr>
            <a:r>
              <a:rPr lang="en-US" sz="1400" b="1" dirty="0">
                <a:solidFill>
                  <a:schemeClr val="accent2"/>
                </a:solidFill>
              </a:rPr>
              <a:t>Roll No.: </a:t>
            </a:r>
            <a:pPr indent="0" marL="0">
              <a:spcAft>
                <a:spcPts val="400"/>
              </a:spcAft>
              <a:buNone/>
            </a:pPr>
            <a:r>
              <a:rPr lang="en-US" sz="1400" dirty="0">
                <a:solidFill>
                  <a:schemeClr val="bg1"/>
                </a:solidFill>
              </a:rPr>
              <a:t>25070521075</a:t>
            </a:r>
            <a:endParaRPr lang="en-US" sz="1400" dirty="0"/>
          </a:p>
          <a:p>
            <a:pPr indent="0" marL="0">
              <a:spcAft>
                <a:spcPts val="400"/>
              </a:spcAft>
              <a:buNone/>
            </a:pPr>
            <a:r>
              <a:rPr lang="en-US" sz="1400" b="1" dirty="0">
                <a:solidFill>
                  <a:schemeClr val="accent2"/>
                </a:solidFill>
              </a:rPr>
              <a:t>Class: </a:t>
            </a:r>
            <a:pPr indent="0" marL="0">
              <a:spcAft>
                <a:spcPts val="400"/>
              </a:spcAft>
              <a:buNone/>
            </a:pPr>
            <a:r>
              <a:rPr lang="en-US" sz="1400" dirty="0">
                <a:solidFill>
                  <a:schemeClr val="bg1"/>
                </a:solidFill>
              </a:rPr>
              <a:t>3rd Semester, Section B</a:t>
            </a:r>
            <a:endParaRPr lang="en-US" sz="1400" dirty="0"/>
          </a:p>
          <a:p>
            <a:pPr indent="0" marL="0">
              <a:spcAft>
                <a:spcPts val="400"/>
              </a:spcAft>
              <a:buNone/>
            </a:pPr>
            <a:r>
              <a:rPr lang="en-US" sz="1400" b="1" dirty="0">
                <a:solidFill>
                  <a:schemeClr val="accent2"/>
                </a:solidFill>
              </a:rPr>
              <a:t>College: </a:t>
            </a:r>
            <a:pPr indent="0" marL="0">
              <a:spcAft>
                <a:spcPts val="400"/>
              </a:spcAft>
              <a:buNone/>
            </a:pPr>
            <a:r>
              <a:rPr lang="en-US" sz="1400" dirty="0">
                <a:solidFill>
                  <a:schemeClr val="bg1"/>
                </a:solidFill>
              </a:rPr>
              <a:t>Symbiosis Institute of Technology</a:t>
            </a:r>
            <a:endParaRPr lang="en-US" sz="1400" dirty="0"/>
          </a:p>
        </p:txBody>
      </p:sp>
      <p:sp>
        <p:nvSpPr>
          <p:cNvPr id="7" name="Shape 4"/>
          <p:cNvSpPr/>
          <p:nvPr/>
        </p:nvSpPr>
        <p:spPr>
          <a:xfrm flipV="1">
            <a:off x="5577840" y="1737360"/>
            <a:ext cx="905256" cy="663854"/>
          </a:xfrm>
          <a:prstGeom prst="line">
            <a:avLst/>
          </a:prstGeom>
          <a:noFill/>
          <a:ln w="19050">
            <a:solidFill>
              <a:schemeClr val="accent6"/>
            </a:solidFill>
            <a:prstDash val="solid"/>
          </a:ln>
        </p:spPr>
      </p:sp>
      <p:sp>
        <p:nvSpPr>
          <p:cNvPr id="8" name="Shape 5"/>
          <p:cNvSpPr/>
          <p:nvPr/>
        </p:nvSpPr>
        <p:spPr>
          <a:xfrm>
            <a:off x="5577840" y="2401214"/>
            <a:ext cx="905256" cy="663854"/>
          </a:xfrm>
          <a:prstGeom prst="line">
            <a:avLst/>
          </a:prstGeom>
          <a:noFill/>
          <a:ln w="50800">
            <a:solidFill>
              <a:schemeClr val="accent1"/>
            </a:solidFill>
            <a:prstDash val="solid"/>
          </a:ln>
        </p:spPr>
      </p:sp>
      <p:sp>
        <p:nvSpPr>
          <p:cNvPr id="9" name="Shape 6"/>
          <p:cNvSpPr/>
          <p:nvPr/>
        </p:nvSpPr>
        <p:spPr>
          <a:xfrm>
            <a:off x="6483096" y="1737360"/>
            <a:ext cx="0" cy="1327709"/>
          </a:xfrm>
          <a:prstGeom prst="line">
            <a:avLst/>
          </a:prstGeom>
          <a:noFill/>
          <a:ln w="50800">
            <a:solidFill>
              <a:schemeClr val="accent1"/>
            </a:solidFill>
            <a:prstDash val="solid"/>
          </a:ln>
        </p:spPr>
      </p:sp>
      <p:sp>
        <p:nvSpPr>
          <p:cNvPr id="10" name="Shape 7"/>
          <p:cNvSpPr/>
          <p:nvPr/>
        </p:nvSpPr>
        <p:spPr>
          <a:xfrm>
            <a:off x="6483096" y="1737360"/>
            <a:ext cx="1086307" cy="0"/>
          </a:xfrm>
          <a:prstGeom prst="line">
            <a:avLst/>
          </a:prstGeom>
          <a:noFill/>
          <a:ln w="50800">
            <a:solidFill>
              <a:schemeClr val="accent1"/>
            </a:solidFill>
            <a:prstDash val="solid"/>
          </a:ln>
        </p:spPr>
      </p:sp>
      <p:sp>
        <p:nvSpPr>
          <p:cNvPr id="11" name="Shape 8"/>
          <p:cNvSpPr/>
          <p:nvPr/>
        </p:nvSpPr>
        <p:spPr>
          <a:xfrm flipV="1">
            <a:off x="6483096" y="1737360"/>
            <a:ext cx="1086307" cy="1327709"/>
          </a:xfrm>
          <a:prstGeom prst="line">
            <a:avLst/>
          </a:prstGeom>
          <a:noFill/>
          <a:ln w="19050">
            <a:solidFill>
              <a:schemeClr val="accent6"/>
            </a:solidFill>
            <a:prstDash val="solid"/>
          </a:ln>
        </p:spPr>
      </p:sp>
      <p:sp>
        <p:nvSpPr>
          <p:cNvPr id="12" name="Shape 9"/>
          <p:cNvSpPr/>
          <p:nvPr/>
        </p:nvSpPr>
        <p:spPr>
          <a:xfrm>
            <a:off x="6483096" y="3065069"/>
            <a:ext cx="1086307" cy="0"/>
          </a:xfrm>
          <a:prstGeom prst="line">
            <a:avLst/>
          </a:prstGeom>
          <a:noFill/>
          <a:ln w="19050">
            <a:solidFill>
              <a:schemeClr val="accent6"/>
            </a:solidFill>
            <a:prstDash val="solid"/>
          </a:ln>
        </p:spPr>
      </p:sp>
      <p:sp>
        <p:nvSpPr>
          <p:cNvPr id="13" name="Shape 10"/>
          <p:cNvSpPr/>
          <p:nvPr/>
        </p:nvSpPr>
        <p:spPr>
          <a:xfrm>
            <a:off x="7569403" y="1737360"/>
            <a:ext cx="0" cy="1327709"/>
          </a:xfrm>
          <a:prstGeom prst="line">
            <a:avLst/>
          </a:prstGeom>
          <a:noFill/>
          <a:ln w="50800">
            <a:solidFill>
              <a:schemeClr val="accent1"/>
            </a:solidFill>
            <a:prstDash val="solid"/>
          </a:ln>
        </p:spPr>
      </p:sp>
      <p:sp>
        <p:nvSpPr>
          <p:cNvPr id="14" name="Shape 11"/>
          <p:cNvSpPr/>
          <p:nvPr/>
        </p:nvSpPr>
        <p:spPr>
          <a:xfrm>
            <a:off x="7569403" y="1737360"/>
            <a:ext cx="905256" cy="663854"/>
          </a:xfrm>
          <a:prstGeom prst="line">
            <a:avLst/>
          </a:prstGeom>
          <a:noFill/>
          <a:ln w="19050">
            <a:solidFill>
              <a:schemeClr val="accent6"/>
            </a:solidFill>
            <a:prstDash val="solid"/>
          </a:ln>
        </p:spPr>
      </p:sp>
      <p:sp>
        <p:nvSpPr>
          <p:cNvPr id="15" name="Shape 12"/>
          <p:cNvSpPr/>
          <p:nvPr/>
        </p:nvSpPr>
        <p:spPr>
          <a:xfrm flipV="1">
            <a:off x="7569403" y="2401214"/>
            <a:ext cx="905256" cy="663854"/>
          </a:xfrm>
          <a:prstGeom prst="line">
            <a:avLst/>
          </a:prstGeom>
          <a:noFill/>
          <a:ln w="50800">
            <a:solidFill>
              <a:schemeClr val="accent1"/>
            </a:solidFill>
            <a:prstDash val="solid"/>
          </a:ln>
        </p:spPr>
      </p:sp>
      <p:sp>
        <p:nvSpPr>
          <p:cNvPr id="16" name="Text 13"/>
          <p:cNvSpPr txBox="1"/>
          <p:nvPr/>
        </p:nvSpPr>
        <p:spPr>
          <a:xfrm>
            <a:off x="5911596" y="1977847"/>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17" name="Text 14"/>
          <p:cNvSpPr txBox="1"/>
          <p:nvPr/>
        </p:nvSpPr>
        <p:spPr>
          <a:xfrm>
            <a:off x="5911596" y="2641702"/>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accent1"/>
                </a:solidFill>
              </a:rPr>
              <a:t>2</a:t>
            </a:r>
            <a:endParaRPr lang="en-US" sz="1000" dirty="0"/>
          </a:p>
        </p:txBody>
      </p:sp>
      <p:sp>
        <p:nvSpPr>
          <p:cNvPr id="18" name="Text 15"/>
          <p:cNvSpPr txBox="1"/>
          <p:nvPr/>
        </p:nvSpPr>
        <p:spPr>
          <a:xfrm>
            <a:off x="6364224" y="2309774"/>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accent1"/>
                </a:solidFill>
              </a:rPr>
              <a:t>1</a:t>
            </a:r>
            <a:endParaRPr lang="en-US" sz="1000" dirty="0"/>
          </a:p>
        </p:txBody>
      </p:sp>
      <p:sp>
        <p:nvSpPr>
          <p:cNvPr id="19" name="Text 16"/>
          <p:cNvSpPr txBox="1"/>
          <p:nvPr/>
        </p:nvSpPr>
        <p:spPr>
          <a:xfrm>
            <a:off x="6907378" y="1645920"/>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accent1"/>
                </a:solidFill>
              </a:rPr>
              <a:t>5</a:t>
            </a:r>
            <a:endParaRPr lang="en-US" sz="1000" dirty="0"/>
          </a:p>
        </p:txBody>
      </p:sp>
      <p:sp>
        <p:nvSpPr>
          <p:cNvPr id="20" name="Text 17"/>
          <p:cNvSpPr txBox="1"/>
          <p:nvPr/>
        </p:nvSpPr>
        <p:spPr>
          <a:xfrm>
            <a:off x="6907378" y="2309774"/>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21" name="Text 18"/>
          <p:cNvSpPr txBox="1"/>
          <p:nvPr/>
        </p:nvSpPr>
        <p:spPr>
          <a:xfrm>
            <a:off x="6907378" y="2973629"/>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bg1"/>
                </a:solidFill>
              </a:rPr>
              <a:t>10</a:t>
            </a:r>
            <a:endParaRPr lang="en-US" sz="1000" dirty="0"/>
          </a:p>
        </p:txBody>
      </p:sp>
      <p:sp>
        <p:nvSpPr>
          <p:cNvPr id="22" name="Text 19"/>
          <p:cNvSpPr txBox="1"/>
          <p:nvPr/>
        </p:nvSpPr>
        <p:spPr>
          <a:xfrm>
            <a:off x="7450531" y="2309774"/>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accent1"/>
                </a:solidFill>
              </a:rPr>
              <a:t>2</a:t>
            </a:r>
            <a:endParaRPr lang="en-US" sz="1000" dirty="0"/>
          </a:p>
        </p:txBody>
      </p:sp>
      <p:sp>
        <p:nvSpPr>
          <p:cNvPr id="23" name="Text 20"/>
          <p:cNvSpPr txBox="1"/>
          <p:nvPr/>
        </p:nvSpPr>
        <p:spPr>
          <a:xfrm>
            <a:off x="7903159" y="1977847"/>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4" name="Text 21"/>
          <p:cNvSpPr txBox="1"/>
          <p:nvPr/>
        </p:nvSpPr>
        <p:spPr>
          <a:xfrm>
            <a:off x="7903159" y="2641702"/>
            <a:ext cx="237744" cy="182880"/>
          </a:xfrm>
          <a:prstGeom prst="rect">
            <a:avLst/>
          </a:prstGeom>
          <a:solidFill>
            <a:schemeClr val="tx1"/>
          </a:solidFill>
          <a:ln/>
        </p:spPr>
        <p:txBody>
          <a:bodyPr wrap="square" lIns="0" tIns="0" rIns="0" bIns="0" rtlCol="0" anchor="ctr"/>
          <a:lstStyle/>
          <a:p>
            <a:pPr algn="ctr" indent="0" marL="0">
              <a:buNone/>
            </a:pPr>
            <a:r>
              <a:rPr lang="en-US" sz="1000" b="1" dirty="0">
                <a:solidFill>
                  <a:schemeClr val="accent1"/>
                </a:solidFill>
              </a:rPr>
              <a:t>3</a:t>
            </a:r>
            <a:endParaRPr lang="en-US" sz="1000" dirty="0"/>
          </a:p>
        </p:txBody>
      </p:sp>
      <p:sp>
        <p:nvSpPr>
          <p:cNvPr id="25" name="Text 22"/>
          <p:cNvSpPr txBox="1"/>
          <p:nvPr/>
        </p:nvSpPr>
        <p:spPr>
          <a:xfrm>
            <a:off x="5394960" y="2218334"/>
            <a:ext cx="365760" cy="365760"/>
          </a:xfrm>
          <a:prstGeom prst="ellipse">
            <a:avLst/>
          </a:prstGeom>
          <a:solidFill>
            <a:srgbClr val="16305F"/>
          </a:solidFill>
          <a:ln w="25400">
            <a:solidFill>
              <a:schemeClr val="accent2"/>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26" name="Text 23"/>
          <p:cNvSpPr txBox="1"/>
          <p:nvPr/>
        </p:nvSpPr>
        <p:spPr>
          <a:xfrm>
            <a:off x="6300216" y="1554480"/>
            <a:ext cx="365760" cy="365760"/>
          </a:xfrm>
          <a:prstGeom prst="ellipse">
            <a:avLst/>
          </a:prstGeom>
          <a:solidFill>
            <a:srgbClr val="16305F"/>
          </a:solidFill>
          <a:ln w="25400">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27" name="Text 24"/>
          <p:cNvSpPr txBox="1"/>
          <p:nvPr/>
        </p:nvSpPr>
        <p:spPr>
          <a:xfrm>
            <a:off x="6300216" y="2882189"/>
            <a:ext cx="365760" cy="365760"/>
          </a:xfrm>
          <a:prstGeom prst="ellipse">
            <a:avLst/>
          </a:prstGeom>
          <a:solidFill>
            <a:srgbClr val="16305F"/>
          </a:solidFill>
          <a:ln w="25400">
            <a:solidFill>
              <a:schemeClr val="accent2"/>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28" name="Text 25"/>
          <p:cNvSpPr txBox="1"/>
          <p:nvPr/>
        </p:nvSpPr>
        <p:spPr>
          <a:xfrm>
            <a:off x="7386523" y="1554480"/>
            <a:ext cx="365760" cy="365760"/>
          </a:xfrm>
          <a:prstGeom prst="ellipse">
            <a:avLst/>
          </a:prstGeom>
          <a:solidFill>
            <a:srgbClr val="16305F"/>
          </a:solidFill>
          <a:ln w="25400">
            <a:solidFill>
              <a:schemeClr val="accent2"/>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9" name="Text 26"/>
          <p:cNvSpPr txBox="1"/>
          <p:nvPr/>
        </p:nvSpPr>
        <p:spPr>
          <a:xfrm>
            <a:off x="7386523" y="2882189"/>
            <a:ext cx="365760" cy="365760"/>
          </a:xfrm>
          <a:prstGeom prst="ellipse">
            <a:avLst/>
          </a:prstGeom>
          <a:solidFill>
            <a:srgbClr val="16305F"/>
          </a:solidFill>
          <a:ln w="25400">
            <a:solidFill>
              <a:schemeClr val="accent2"/>
            </a:solidFill>
          </a:ln>
        </p:spPr>
        <p:txBody>
          <a:bodyPr wrap="square" lIns="0" tIns="0" rIns="0" bIns="0" rtlCol="0" anchor="ctr"/>
          <a:lstStyle/>
          <a:p>
            <a:pPr algn="ctr" indent="0" marL="0">
              <a:buNone/>
            </a:pPr>
            <a:r>
              <a:rPr lang="en-US" sz="1300" b="1" dirty="0">
                <a:solidFill>
                  <a:schemeClr val="bg1"/>
                </a:solidFill>
              </a:rPr>
              <a:t>E</a:t>
            </a:r>
            <a:endParaRPr lang="en-US" sz="1300" dirty="0"/>
          </a:p>
        </p:txBody>
      </p:sp>
      <p:sp>
        <p:nvSpPr>
          <p:cNvPr id="30" name="Text 27"/>
          <p:cNvSpPr txBox="1"/>
          <p:nvPr/>
        </p:nvSpPr>
        <p:spPr>
          <a:xfrm>
            <a:off x="8291779" y="2218334"/>
            <a:ext cx="365760" cy="365760"/>
          </a:xfrm>
          <a:prstGeom prst="ellipse">
            <a:avLst/>
          </a:prstGeom>
          <a:solidFill>
            <a:srgbClr val="16305F"/>
          </a:solidFill>
          <a:ln w="25400">
            <a:solidFill>
              <a:schemeClr val="accent2"/>
            </a:solidFill>
          </a:ln>
        </p:spPr>
        <p:txBody>
          <a:bodyPr wrap="square" lIns="0" tIns="0" rIns="0" bIns="0" rtlCol="0" anchor="ctr"/>
          <a:lstStyle/>
          <a:p>
            <a:pPr algn="ctr" indent="0" marL="0">
              <a:buNone/>
            </a:pPr>
            <a:r>
              <a:rPr lang="en-US" sz="1300" b="1" dirty="0">
                <a:solidFill>
                  <a:schemeClr val="bg1"/>
                </a:solidFill>
              </a:rPr>
              <a:t>F</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Introduction</a:t>
            </a:r>
            <a:endParaRPr lang="en-US" sz="3200" dirty="0"/>
          </a:p>
        </p:txBody>
      </p:sp>
      <p:sp>
        <p:nvSpPr>
          <p:cNvPr id="4" name="Shape 1"/>
          <p:cNvSpPr/>
          <p:nvPr/>
        </p:nvSpPr>
        <p:spPr>
          <a:xfrm>
            <a:off x="457200" y="1188720"/>
            <a:ext cx="8229600" cy="868680"/>
          </a:xfrm>
          <a:prstGeom prst="roundRect">
            <a:avLst>
              <a:gd name="adj" fmla="val 12632"/>
            </a:avLst>
          </a:prstGeom>
          <a:solidFill>
            <a:srgbClr val="EAF2FF"/>
          </a:solidFill>
          <a:ln/>
        </p:spPr>
      </p:sp>
      <p:sp>
        <p:nvSpPr>
          <p:cNvPr id="5" name="Text 2"/>
          <p:cNvSpPr txBox="1"/>
          <p:nvPr/>
        </p:nvSpPr>
        <p:spPr>
          <a:xfrm>
            <a:off x="685800" y="1188720"/>
            <a:ext cx="7772400" cy="868680"/>
          </a:xfrm>
          <a:prstGeom prst="rect">
            <a:avLst/>
          </a:prstGeom>
          <a:noFill/>
          <a:ln/>
        </p:spPr>
        <p:txBody>
          <a:bodyPr wrap="square" lIns="0" tIns="0" rIns="0" bIns="0" rtlCol="0" anchor="ctr"/>
          <a:lstStyle/>
          <a:p>
            <a:pPr indent="0" marL="0">
              <a:buNone/>
            </a:pPr>
            <a:r>
              <a:rPr lang="en-US" sz="1600" b="1" dirty="0">
                <a:solidFill>
                  <a:schemeClr val="accent1"/>
                </a:solidFill>
              </a:rPr>
              <a:t>Shortest-path problem: </a:t>
            </a:r>
            <a:pPr indent="0" marL="0">
              <a:buNone/>
            </a:pPr>
            <a:r>
              <a:rPr lang="en-US" sz="1600" dirty="0">
                <a:solidFill>
                  <a:schemeClr val="tx1"/>
                </a:solidFill>
              </a:rPr>
              <a:t>given a weighted graph and a source vertex, find the route of minimum total weight to every other vertex.</a:t>
            </a:r>
            <a:endParaRPr lang="en-US" sz="1600" dirty="0"/>
          </a:p>
        </p:txBody>
      </p:sp>
      <p:sp>
        <p:nvSpPr>
          <p:cNvPr id="6" name="Shape 3"/>
          <p:cNvSpPr/>
          <p:nvPr/>
        </p:nvSpPr>
        <p:spPr>
          <a:xfrm>
            <a:off x="457200" y="2286000"/>
            <a:ext cx="2651760" cy="1554480"/>
          </a:xfrm>
          <a:prstGeom prst="roundRect">
            <a:avLst>
              <a:gd name="adj" fmla="val 7059"/>
            </a:avLst>
          </a:prstGeom>
          <a:solidFill>
            <a:srgbClr val="0B1B3A"/>
          </a:solidFill>
          <a:ln/>
        </p:spPr>
      </p:sp>
      <p:sp>
        <p:nvSpPr>
          <p:cNvPr id="7" name="Text 4"/>
          <p:cNvSpPr txBox="1"/>
          <p:nvPr/>
        </p:nvSpPr>
        <p:spPr>
          <a:xfrm>
            <a:off x="640080" y="2468880"/>
            <a:ext cx="502920" cy="50292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2000" b="1" dirty="0">
                <a:solidFill>
                  <a:schemeClr val="bg1"/>
                </a:solidFill>
              </a:rPr>
              <a:t>V</a:t>
            </a:r>
            <a:endParaRPr lang="en-US" sz="2000" dirty="0"/>
          </a:p>
        </p:txBody>
      </p:sp>
      <p:sp>
        <p:nvSpPr>
          <p:cNvPr id="8" name="Text 5"/>
          <p:cNvSpPr txBox="1"/>
          <p:nvPr/>
        </p:nvSpPr>
        <p:spPr>
          <a:xfrm>
            <a:off x="1325880" y="2560320"/>
            <a:ext cx="1645920" cy="365760"/>
          </a:xfrm>
          <a:prstGeom prst="rect">
            <a:avLst/>
          </a:prstGeom>
          <a:noFill/>
          <a:ln/>
        </p:spPr>
        <p:txBody>
          <a:bodyPr wrap="square" lIns="0" tIns="0" rIns="0" bIns="0" rtlCol="0" anchor="t"/>
          <a:lstStyle/>
          <a:p>
            <a:pPr indent="0" marL="0">
              <a:buNone/>
            </a:pPr>
            <a:r>
              <a:rPr lang="en-US" sz="1800" b="1" dirty="0">
                <a:solidFill>
                  <a:schemeClr val="bg1"/>
                </a:solidFill>
              </a:rPr>
              <a:t>Vertex</a:t>
            </a:r>
            <a:endParaRPr lang="en-US" sz="1800" dirty="0"/>
          </a:p>
        </p:txBody>
      </p:sp>
      <p:sp>
        <p:nvSpPr>
          <p:cNvPr id="9" name="Text 6"/>
          <p:cNvSpPr txBox="1"/>
          <p:nvPr/>
        </p:nvSpPr>
        <p:spPr>
          <a:xfrm>
            <a:off x="640080" y="3108960"/>
            <a:ext cx="2286000" cy="640080"/>
          </a:xfrm>
          <a:prstGeom prst="rect">
            <a:avLst/>
          </a:prstGeom>
          <a:noFill/>
          <a:ln/>
        </p:spPr>
        <p:txBody>
          <a:bodyPr wrap="square" lIns="0" tIns="0" rIns="0" bIns="0" rtlCol="0" anchor="t"/>
          <a:lstStyle/>
          <a:p>
            <a:pPr indent="0" marL="0">
              <a:buNone/>
            </a:pPr>
            <a:r>
              <a:rPr lang="en-US" sz="1300" dirty="0">
                <a:solidFill>
                  <a:srgbClr val="CADCFC"/>
                </a:solidFill>
              </a:rPr>
              <a:t>A node or point, e.g. a city, junction or router</a:t>
            </a:r>
            <a:endParaRPr lang="en-US" sz="1300" dirty="0"/>
          </a:p>
        </p:txBody>
      </p:sp>
      <p:sp>
        <p:nvSpPr>
          <p:cNvPr id="10" name="Shape 7"/>
          <p:cNvSpPr/>
          <p:nvPr/>
        </p:nvSpPr>
        <p:spPr>
          <a:xfrm>
            <a:off x="3246120" y="2286000"/>
            <a:ext cx="2651760" cy="1554480"/>
          </a:xfrm>
          <a:prstGeom prst="roundRect">
            <a:avLst>
              <a:gd name="adj" fmla="val 7059"/>
            </a:avLst>
          </a:prstGeom>
          <a:solidFill>
            <a:srgbClr val="0B1B3A"/>
          </a:solidFill>
          <a:ln/>
        </p:spPr>
      </p:sp>
      <p:sp>
        <p:nvSpPr>
          <p:cNvPr id="11" name="Text 8"/>
          <p:cNvSpPr txBox="1"/>
          <p:nvPr/>
        </p:nvSpPr>
        <p:spPr>
          <a:xfrm>
            <a:off x="3429000" y="2468880"/>
            <a:ext cx="502920" cy="50292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2000" b="1" dirty="0">
                <a:solidFill>
                  <a:schemeClr val="bg1"/>
                </a:solidFill>
              </a:rPr>
              <a:t>E</a:t>
            </a:r>
            <a:endParaRPr lang="en-US" sz="2000" dirty="0"/>
          </a:p>
        </p:txBody>
      </p:sp>
      <p:sp>
        <p:nvSpPr>
          <p:cNvPr id="12" name="Text 9"/>
          <p:cNvSpPr txBox="1"/>
          <p:nvPr/>
        </p:nvSpPr>
        <p:spPr>
          <a:xfrm>
            <a:off x="4114800" y="2560320"/>
            <a:ext cx="1645920" cy="365760"/>
          </a:xfrm>
          <a:prstGeom prst="rect">
            <a:avLst/>
          </a:prstGeom>
          <a:noFill/>
          <a:ln/>
        </p:spPr>
        <p:txBody>
          <a:bodyPr wrap="square" lIns="0" tIns="0" rIns="0" bIns="0" rtlCol="0" anchor="t"/>
          <a:lstStyle/>
          <a:p>
            <a:pPr indent="0" marL="0">
              <a:buNone/>
            </a:pPr>
            <a:r>
              <a:rPr lang="en-US" sz="1800" b="1" dirty="0">
                <a:solidFill>
                  <a:schemeClr val="bg1"/>
                </a:solidFill>
              </a:rPr>
              <a:t>Edge</a:t>
            </a:r>
            <a:endParaRPr lang="en-US" sz="1800" dirty="0"/>
          </a:p>
        </p:txBody>
      </p:sp>
      <p:sp>
        <p:nvSpPr>
          <p:cNvPr id="13" name="Text 10"/>
          <p:cNvSpPr txBox="1"/>
          <p:nvPr/>
        </p:nvSpPr>
        <p:spPr>
          <a:xfrm>
            <a:off x="3429000" y="3108960"/>
            <a:ext cx="2286000" cy="640080"/>
          </a:xfrm>
          <a:prstGeom prst="rect">
            <a:avLst/>
          </a:prstGeom>
          <a:noFill/>
          <a:ln/>
        </p:spPr>
        <p:txBody>
          <a:bodyPr wrap="square" lIns="0" tIns="0" rIns="0" bIns="0" rtlCol="0" anchor="t"/>
          <a:lstStyle/>
          <a:p>
            <a:pPr indent="0" marL="0">
              <a:buNone/>
            </a:pPr>
            <a:r>
              <a:rPr lang="en-US" sz="1300" dirty="0">
                <a:solidFill>
                  <a:srgbClr val="CADCFC"/>
                </a:solidFill>
              </a:rPr>
              <a:t>A link between two vertices, e.g. a road or cable</a:t>
            </a:r>
            <a:endParaRPr lang="en-US" sz="1300" dirty="0"/>
          </a:p>
        </p:txBody>
      </p:sp>
      <p:sp>
        <p:nvSpPr>
          <p:cNvPr id="14" name="Shape 11"/>
          <p:cNvSpPr/>
          <p:nvPr/>
        </p:nvSpPr>
        <p:spPr>
          <a:xfrm>
            <a:off x="6035040" y="2286000"/>
            <a:ext cx="2651760" cy="1554480"/>
          </a:xfrm>
          <a:prstGeom prst="roundRect">
            <a:avLst>
              <a:gd name="adj" fmla="val 7059"/>
            </a:avLst>
          </a:prstGeom>
          <a:solidFill>
            <a:srgbClr val="0B1B3A"/>
          </a:solidFill>
          <a:ln/>
        </p:spPr>
      </p:sp>
      <p:sp>
        <p:nvSpPr>
          <p:cNvPr id="15" name="Text 12"/>
          <p:cNvSpPr txBox="1"/>
          <p:nvPr/>
        </p:nvSpPr>
        <p:spPr>
          <a:xfrm>
            <a:off x="6217920" y="2468880"/>
            <a:ext cx="502920" cy="50292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2000" b="1" dirty="0">
                <a:solidFill>
                  <a:schemeClr val="bg1"/>
                </a:solidFill>
              </a:rPr>
              <a:t>w</a:t>
            </a:r>
            <a:endParaRPr lang="en-US" sz="2000" dirty="0"/>
          </a:p>
        </p:txBody>
      </p:sp>
      <p:sp>
        <p:nvSpPr>
          <p:cNvPr id="16" name="Text 13"/>
          <p:cNvSpPr txBox="1"/>
          <p:nvPr/>
        </p:nvSpPr>
        <p:spPr>
          <a:xfrm>
            <a:off x="6903720" y="2560320"/>
            <a:ext cx="1645920" cy="365760"/>
          </a:xfrm>
          <a:prstGeom prst="rect">
            <a:avLst/>
          </a:prstGeom>
          <a:noFill/>
          <a:ln/>
        </p:spPr>
        <p:txBody>
          <a:bodyPr wrap="square" lIns="0" tIns="0" rIns="0" bIns="0" rtlCol="0" anchor="t"/>
          <a:lstStyle/>
          <a:p>
            <a:pPr indent="0" marL="0">
              <a:buNone/>
            </a:pPr>
            <a:r>
              <a:rPr lang="en-US" sz="1800" b="1" dirty="0">
                <a:solidFill>
                  <a:schemeClr val="bg1"/>
                </a:solidFill>
              </a:rPr>
              <a:t>Weight</a:t>
            </a:r>
            <a:endParaRPr lang="en-US" sz="1800" dirty="0"/>
          </a:p>
        </p:txBody>
      </p:sp>
      <p:sp>
        <p:nvSpPr>
          <p:cNvPr id="17" name="Text 14"/>
          <p:cNvSpPr txBox="1"/>
          <p:nvPr/>
        </p:nvSpPr>
        <p:spPr>
          <a:xfrm>
            <a:off x="6217920" y="3108960"/>
            <a:ext cx="2286000" cy="640080"/>
          </a:xfrm>
          <a:prstGeom prst="rect">
            <a:avLst/>
          </a:prstGeom>
          <a:noFill/>
          <a:ln/>
        </p:spPr>
        <p:txBody>
          <a:bodyPr wrap="square" lIns="0" tIns="0" rIns="0" bIns="0" rtlCol="0" anchor="t"/>
          <a:lstStyle/>
          <a:p>
            <a:pPr indent="0" marL="0">
              <a:buNone/>
            </a:pPr>
            <a:r>
              <a:rPr lang="en-US" sz="1300" dirty="0">
                <a:solidFill>
                  <a:srgbClr val="CADCFC"/>
                </a:solidFill>
              </a:rPr>
              <a:t>A cost on each edge: distance, time or money. This makes the graph weighted</a:t>
            </a:r>
            <a:endParaRPr lang="en-US" sz="1300" dirty="0"/>
          </a:p>
        </p:txBody>
      </p:sp>
      <p:sp>
        <p:nvSpPr>
          <p:cNvPr id="18" name="Shape 15"/>
          <p:cNvSpPr/>
          <p:nvPr/>
        </p:nvSpPr>
        <p:spPr>
          <a:xfrm>
            <a:off x="457200" y="4023360"/>
            <a:ext cx="8229600" cy="594360"/>
          </a:xfrm>
          <a:prstGeom prst="roundRect">
            <a:avLst>
              <a:gd name="adj" fmla="val 18462"/>
            </a:avLst>
          </a:prstGeom>
          <a:solidFill>
            <a:srgbClr val="2F80ED"/>
          </a:solidFill>
          <a:ln/>
        </p:spPr>
      </p:sp>
      <p:sp>
        <p:nvSpPr>
          <p:cNvPr id="19" name="Text 16"/>
          <p:cNvSpPr txBox="1"/>
          <p:nvPr/>
        </p:nvSpPr>
        <p:spPr>
          <a:xfrm>
            <a:off x="685800" y="4023360"/>
            <a:ext cx="7772400" cy="594360"/>
          </a:xfrm>
          <a:prstGeom prst="rect">
            <a:avLst/>
          </a:prstGeom>
          <a:noFill/>
          <a:ln/>
        </p:spPr>
        <p:txBody>
          <a:bodyPr wrap="square" lIns="0" tIns="0" rIns="0" bIns="0" rtlCol="0" anchor="ctr"/>
          <a:lstStyle/>
          <a:p>
            <a:pPr indent="0" marL="0">
              <a:buNone/>
            </a:pPr>
            <a:r>
              <a:rPr lang="en-US" sz="1600" b="1" dirty="0">
                <a:solidFill>
                  <a:schemeClr val="bg1"/>
                </a:solidFill>
              </a:rPr>
              <a:t>Why it matters: </a:t>
            </a:r>
            <a:pPr indent="0" marL="0">
              <a:buNone/>
            </a:pPr>
            <a:r>
              <a:rPr lang="en-US" sz="1600" dirty="0">
                <a:solidFill>
                  <a:schemeClr val="bg1"/>
                </a:solidFill>
              </a:rPr>
              <a:t>shorter routes save time, fuel and network bandwidth.</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What Is Dijkstra's Algorithm?</a:t>
            </a:r>
            <a:endParaRPr lang="en-US" sz="3200" dirty="0"/>
          </a:p>
        </p:txBody>
      </p:sp>
      <p:sp>
        <p:nvSpPr>
          <p:cNvPr id="4" name="Text 1"/>
          <p:cNvSpPr txBox="1"/>
          <p:nvPr/>
        </p:nvSpPr>
        <p:spPr>
          <a:xfrm>
            <a:off x="457200" y="1234440"/>
            <a:ext cx="502920" cy="50292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2"/>
          <p:cNvSpPr txBox="1"/>
          <p:nvPr/>
        </p:nvSpPr>
        <p:spPr>
          <a:xfrm>
            <a:off x="1188720" y="1234440"/>
            <a:ext cx="3931920" cy="320040"/>
          </a:xfrm>
          <a:prstGeom prst="rect">
            <a:avLst/>
          </a:prstGeom>
          <a:noFill/>
          <a:ln/>
        </p:spPr>
        <p:txBody>
          <a:bodyPr wrap="square" lIns="0" tIns="0" rIns="0" bIns="0" rtlCol="0" anchor="t"/>
          <a:lstStyle/>
          <a:p>
            <a:pPr indent="0" marL="0">
              <a:buNone/>
            </a:pPr>
            <a:r>
              <a:rPr lang="en-US" sz="1800" b="1" dirty="0">
                <a:solidFill>
                  <a:schemeClr val="tx1"/>
                </a:solidFill>
              </a:rPr>
              <a:t>Definition</a:t>
            </a:r>
            <a:endParaRPr lang="en-US" sz="1800" dirty="0"/>
          </a:p>
        </p:txBody>
      </p:sp>
      <p:sp>
        <p:nvSpPr>
          <p:cNvPr id="6" name="Text 3"/>
          <p:cNvSpPr txBox="1"/>
          <p:nvPr/>
        </p:nvSpPr>
        <p:spPr>
          <a:xfrm>
            <a:off x="1188720" y="1600200"/>
            <a:ext cx="3931920" cy="731520"/>
          </a:xfrm>
          <a:prstGeom prst="rect">
            <a:avLst/>
          </a:prstGeom>
          <a:noFill/>
          <a:ln/>
        </p:spPr>
        <p:txBody>
          <a:bodyPr wrap="square" lIns="0" tIns="0" rIns="0" bIns="0" rtlCol="0" anchor="t"/>
          <a:lstStyle/>
          <a:p>
            <a:pPr indent="0" marL="0">
              <a:buNone/>
            </a:pPr>
            <a:r>
              <a:rPr lang="en-US" sz="1400" dirty="0">
                <a:solidFill>
                  <a:schemeClr val="accent6"/>
                </a:solidFill>
              </a:rPr>
              <a:t>Finds the shortest path from one source vertex to every other reachable vertex.</a:t>
            </a:r>
            <a:endParaRPr lang="en-US" sz="1400" dirty="0"/>
          </a:p>
        </p:txBody>
      </p:sp>
      <p:sp>
        <p:nvSpPr>
          <p:cNvPr id="7" name="Text 4"/>
          <p:cNvSpPr txBox="1"/>
          <p:nvPr/>
        </p:nvSpPr>
        <p:spPr>
          <a:xfrm>
            <a:off x="457200" y="2423160"/>
            <a:ext cx="502920" cy="50292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 5"/>
          <p:cNvSpPr txBox="1"/>
          <p:nvPr/>
        </p:nvSpPr>
        <p:spPr>
          <a:xfrm>
            <a:off x="1188720" y="2423160"/>
            <a:ext cx="3931920" cy="320040"/>
          </a:xfrm>
          <a:prstGeom prst="rect">
            <a:avLst/>
          </a:prstGeom>
          <a:noFill/>
          <a:ln/>
        </p:spPr>
        <p:txBody>
          <a:bodyPr wrap="square" lIns="0" tIns="0" rIns="0" bIns="0" rtlCol="0" anchor="t"/>
          <a:lstStyle/>
          <a:p>
            <a:pPr indent="0" marL="0">
              <a:buNone/>
            </a:pPr>
            <a:r>
              <a:rPr lang="en-US" sz="1800" b="1" dirty="0">
                <a:solidFill>
                  <a:schemeClr val="tx1"/>
                </a:solidFill>
              </a:rPr>
              <a:t>Greedy approach</a:t>
            </a:r>
            <a:endParaRPr lang="en-US" sz="1800" dirty="0"/>
          </a:p>
        </p:txBody>
      </p:sp>
      <p:sp>
        <p:nvSpPr>
          <p:cNvPr id="9" name="Text 6"/>
          <p:cNvSpPr txBox="1"/>
          <p:nvPr/>
        </p:nvSpPr>
        <p:spPr>
          <a:xfrm>
            <a:off x="1188720" y="2788920"/>
            <a:ext cx="3931920" cy="731520"/>
          </a:xfrm>
          <a:prstGeom prst="rect">
            <a:avLst/>
          </a:prstGeom>
          <a:noFill/>
          <a:ln/>
        </p:spPr>
        <p:txBody>
          <a:bodyPr wrap="square" lIns="0" tIns="0" rIns="0" bIns="0" rtlCol="0" anchor="t"/>
          <a:lstStyle/>
          <a:p>
            <a:pPr indent="0" marL="0">
              <a:buNone/>
            </a:pPr>
            <a:r>
              <a:rPr lang="en-US" sz="1400" dirty="0">
                <a:solidFill>
                  <a:schemeClr val="accent6"/>
                </a:solidFill>
              </a:rPr>
              <a:t>Always finalize the closest unvisited vertex; its distance cannot improve later.</a:t>
            </a:r>
            <a:endParaRPr lang="en-US" sz="1400" dirty="0"/>
          </a:p>
        </p:txBody>
      </p:sp>
      <p:sp>
        <p:nvSpPr>
          <p:cNvPr id="10" name="Text 7"/>
          <p:cNvSpPr txBox="1"/>
          <p:nvPr/>
        </p:nvSpPr>
        <p:spPr>
          <a:xfrm>
            <a:off x="457200" y="3611880"/>
            <a:ext cx="502920" cy="50292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 8"/>
          <p:cNvSpPr txBox="1"/>
          <p:nvPr/>
        </p:nvSpPr>
        <p:spPr>
          <a:xfrm>
            <a:off x="1188720" y="3611880"/>
            <a:ext cx="3931920" cy="320040"/>
          </a:xfrm>
          <a:prstGeom prst="rect">
            <a:avLst/>
          </a:prstGeom>
          <a:noFill/>
          <a:ln/>
        </p:spPr>
        <p:txBody>
          <a:bodyPr wrap="square" lIns="0" tIns="0" rIns="0" bIns="0" rtlCol="0" anchor="t"/>
          <a:lstStyle/>
          <a:p>
            <a:pPr indent="0" marL="0">
              <a:buNone/>
            </a:pPr>
            <a:r>
              <a:rPr lang="en-US" sz="1800" b="1" dirty="0">
                <a:solidFill>
                  <a:schemeClr val="tx1"/>
                </a:solidFill>
              </a:rPr>
              <a:t>Condition</a:t>
            </a:r>
            <a:endParaRPr lang="en-US" sz="1800" dirty="0"/>
          </a:p>
        </p:txBody>
      </p:sp>
      <p:sp>
        <p:nvSpPr>
          <p:cNvPr id="12" name="Text 9"/>
          <p:cNvSpPr txBox="1"/>
          <p:nvPr/>
        </p:nvSpPr>
        <p:spPr>
          <a:xfrm>
            <a:off x="1188720" y="3977640"/>
            <a:ext cx="3931920" cy="731520"/>
          </a:xfrm>
          <a:prstGeom prst="rect">
            <a:avLst/>
          </a:prstGeom>
          <a:noFill/>
          <a:ln/>
        </p:spPr>
        <p:txBody>
          <a:bodyPr wrap="square" lIns="0" tIns="0" rIns="0" bIns="0" rtlCol="0" anchor="t"/>
          <a:lstStyle/>
          <a:p>
            <a:pPr indent="0" marL="0">
              <a:buNone/>
            </a:pPr>
            <a:r>
              <a:rPr lang="en-US" sz="1400" dirty="0">
                <a:solidFill>
                  <a:schemeClr val="accent6"/>
                </a:solidFill>
              </a:rPr>
              <a:t>Requires every edge weight to be non-negative: w ≥ 0.</a:t>
            </a:r>
            <a:endParaRPr lang="en-US" sz="1400" dirty="0"/>
          </a:p>
        </p:txBody>
      </p:sp>
      <p:sp>
        <p:nvSpPr>
          <p:cNvPr id="13" name="Shape 10"/>
          <p:cNvSpPr/>
          <p:nvPr/>
        </p:nvSpPr>
        <p:spPr>
          <a:xfrm>
            <a:off x="5486400" y="1234440"/>
            <a:ext cx="3200400" cy="3337560"/>
          </a:xfrm>
          <a:prstGeom prst="roundRect">
            <a:avLst>
              <a:gd name="adj" fmla="val 3429"/>
            </a:avLst>
          </a:prstGeom>
          <a:solidFill>
            <a:srgbClr val="0B1B3A"/>
          </a:solidFill>
          <a:ln/>
        </p:spPr>
      </p:sp>
      <p:sp>
        <p:nvSpPr>
          <p:cNvPr id="14" name="Text 11"/>
          <p:cNvSpPr txBox="1"/>
          <p:nvPr/>
        </p:nvSpPr>
        <p:spPr>
          <a:xfrm>
            <a:off x="5715000" y="1463040"/>
            <a:ext cx="2743200" cy="274320"/>
          </a:xfrm>
          <a:prstGeom prst="rect">
            <a:avLst/>
          </a:prstGeom>
          <a:noFill/>
          <a:ln/>
        </p:spPr>
        <p:txBody>
          <a:bodyPr wrap="square" lIns="0" tIns="0" rIns="0" bIns="0" rtlCol="0" anchor="t"/>
          <a:lstStyle/>
          <a:p>
            <a:pPr indent="0" marL="0">
              <a:buNone/>
            </a:pPr>
            <a:r>
              <a:rPr lang="en-US" sz="1200" b="1" dirty="0">
                <a:solidFill>
                  <a:schemeClr val="accent2"/>
                </a:solidFill>
              </a:rPr>
              <a:t>THE GREEDY RULE (RELAXATION)</a:t>
            </a:r>
            <a:endParaRPr lang="en-US" sz="1200" dirty="0"/>
          </a:p>
        </p:txBody>
      </p:sp>
      <p:sp>
        <p:nvSpPr>
          <p:cNvPr id="15" name="Text 12"/>
          <p:cNvSpPr txBox="1"/>
          <p:nvPr/>
        </p:nvSpPr>
        <p:spPr>
          <a:xfrm>
            <a:off x="5715000" y="1828800"/>
            <a:ext cx="2743200" cy="822960"/>
          </a:xfrm>
          <a:prstGeom prst="rect">
            <a:avLst/>
          </a:prstGeom>
          <a:noFill/>
          <a:ln/>
        </p:spPr>
        <p:txBody>
          <a:bodyPr wrap="square" lIns="0" tIns="0" rIns="0" bIns="0" rtlCol="0" anchor="t"/>
          <a:lstStyle/>
          <a:p>
            <a:pPr indent="0" marL="0">
              <a:buNone/>
            </a:pPr>
            <a:r>
              <a:rPr lang="en-US" sz="2200" b="1" dirty="0">
                <a:solidFill>
                  <a:schemeClr val="bg1"/>
                </a:solidFill>
              </a:rPr>
              <a:t>d[v] = min( d[v], d[u] + w(u,v) )</a:t>
            </a:r>
            <a:endParaRPr lang="en-US" sz="2200" dirty="0"/>
          </a:p>
        </p:txBody>
      </p:sp>
      <p:sp>
        <p:nvSpPr>
          <p:cNvPr id="16" name="Text 13"/>
          <p:cNvSpPr txBox="1"/>
          <p:nvPr/>
        </p:nvSpPr>
        <p:spPr>
          <a:xfrm>
            <a:off x="5715000" y="2926080"/>
            <a:ext cx="2743200" cy="1371600"/>
          </a:xfrm>
          <a:prstGeom prst="rect">
            <a:avLst/>
          </a:prstGeom>
          <a:noFill/>
          <a:ln/>
        </p:spPr>
        <p:txBody>
          <a:bodyPr wrap="square" lIns="0" tIns="0" rIns="0" bIns="0" rtlCol="0" anchor="t"/>
          <a:lstStyle/>
          <a:p>
            <a:pPr indent="0" marL="0">
              <a:spcAft>
                <a:spcPts val="800"/>
              </a:spcAft>
              <a:buNone/>
            </a:pPr>
            <a:r>
              <a:rPr lang="en-US" sz="1400" b="1" dirty="0">
                <a:solidFill>
                  <a:schemeClr val="accent2"/>
                </a:solidFill>
              </a:rPr>
              <a:t>Input: </a:t>
            </a:r>
            <a:pPr indent="0" marL="0">
              <a:spcAft>
                <a:spcPts val="800"/>
              </a:spcAft>
              <a:buNone/>
            </a:pPr>
            <a:r>
              <a:rPr lang="en-US" sz="1400" dirty="0">
                <a:solidFill>
                  <a:schemeClr val="bg1"/>
                </a:solidFill>
              </a:rPr>
              <a:t>weighted graph G, source s</a:t>
            </a:r>
            <a:endParaRPr lang="en-US" sz="1400" dirty="0"/>
          </a:p>
          <a:p>
            <a:pPr indent="0" marL="0">
              <a:spcAft>
                <a:spcPts val="800"/>
              </a:spcAft>
              <a:buNone/>
            </a:pPr>
            <a:r>
              <a:rPr lang="en-US" sz="1400" b="1" dirty="0">
                <a:solidFill>
                  <a:schemeClr val="accent2"/>
                </a:solidFill>
              </a:rPr>
              <a:t>Output: </a:t>
            </a:r>
            <a:pPr indent="0" marL="0">
              <a:spcAft>
                <a:spcPts val="800"/>
              </a:spcAft>
              <a:buNone/>
            </a:pPr>
            <a:r>
              <a:rPr lang="en-US" sz="1400" dirty="0">
                <a:solidFill>
                  <a:schemeClr val="bg1"/>
                </a:solidFill>
              </a:rPr>
              <a:t>shortest distance d(s, v) for every reachable v</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Basic Terminology</a:t>
            </a:r>
            <a:endParaRPr lang="en-US" sz="3200" dirty="0"/>
          </a:p>
        </p:txBody>
      </p:sp>
      <p:sp>
        <p:nvSpPr>
          <p:cNvPr id="4" name="Shape 1"/>
          <p:cNvSpPr/>
          <p:nvPr/>
        </p:nvSpPr>
        <p:spPr>
          <a:xfrm flipV="1">
            <a:off x="731520" y="1783080"/>
            <a:ext cx="1371600" cy="1005840"/>
          </a:xfrm>
          <a:prstGeom prst="line">
            <a:avLst/>
          </a:prstGeom>
          <a:noFill/>
          <a:ln w="19050">
            <a:solidFill>
              <a:srgbClr val="B8C4D8"/>
            </a:solidFill>
            <a:prstDash val="solid"/>
          </a:ln>
        </p:spPr>
      </p:sp>
      <p:sp>
        <p:nvSpPr>
          <p:cNvPr id="5" name="Shape 2"/>
          <p:cNvSpPr/>
          <p:nvPr/>
        </p:nvSpPr>
        <p:spPr>
          <a:xfrm>
            <a:off x="731520" y="2788920"/>
            <a:ext cx="1371600" cy="1005840"/>
          </a:xfrm>
          <a:prstGeom prst="line">
            <a:avLst/>
          </a:prstGeom>
          <a:noFill/>
          <a:ln w="19050">
            <a:solidFill>
              <a:srgbClr val="B8C4D8"/>
            </a:solidFill>
            <a:prstDash val="solid"/>
          </a:ln>
        </p:spPr>
      </p:sp>
      <p:sp>
        <p:nvSpPr>
          <p:cNvPr id="6" name="Shape 3"/>
          <p:cNvSpPr/>
          <p:nvPr/>
        </p:nvSpPr>
        <p:spPr>
          <a:xfrm>
            <a:off x="2103120" y="1783080"/>
            <a:ext cx="0" cy="2011680"/>
          </a:xfrm>
          <a:prstGeom prst="line">
            <a:avLst/>
          </a:prstGeom>
          <a:noFill/>
          <a:ln w="19050">
            <a:solidFill>
              <a:srgbClr val="B8C4D8"/>
            </a:solidFill>
            <a:prstDash val="solid"/>
          </a:ln>
        </p:spPr>
      </p:sp>
      <p:sp>
        <p:nvSpPr>
          <p:cNvPr id="7" name="Shape 4"/>
          <p:cNvSpPr/>
          <p:nvPr/>
        </p:nvSpPr>
        <p:spPr>
          <a:xfrm>
            <a:off x="2103120" y="1783080"/>
            <a:ext cx="1645920" cy="0"/>
          </a:xfrm>
          <a:prstGeom prst="line">
            <a:avLst/>
          </a:prstGeom>
          <a:noFill/>
          <a:ln w="19050">
            <a:solidFill>
              <a:srgbClr val="B8C4D8"/>
            </a:solidFill>
            <a:prstDash val="solid"/>
          </a:ln>
        </p:spPr>
      </p:sp>
      <p:sp>
        <p:nvSpPr>
          <p:cNvPr id="8" name="Shape 5"/>
          <p:cNvSpPr/>
          <p:nvPr/>
        </p:nvSpPr>
        <p:spPr>
          <a:xfrm flipV="1">
            <a:off x="2103120" y="1783080"/>
            <a:ext cx="1645920" cy="2011680"/>
          </a:xfrm>
          <a:prstGeom prst="line">
            <a:avLst/>
          </a:prstGeom>
          <a:noFill/>
          <a:ln w="19050">
            <a:solidFill>
              <a:srgbClr val="B8C4D8"/>
            </a:solidFill>
            <a:prstDash val="solid"/>
          </a:ln>
        </p:spPr>
      </p:sp>
      <p:sp>
        <p:nvSpPr>
          <p:cNvPr id="9" name="Shape 6"/>
          <p:cNvSpPr/>
          <p:nvPr/>
        </p:nvSpPr>
        <p:spPr>
          <a:xfrm>
            <a:off x="2103120" y="3794760"/>
            <a:ext cx="1645920" cy="0"/>
          </a:xfrm>
          <a:prstGeom prst="line">
            <a:avLst/>
          </a:prstGeom>
          <a:noFill/>
          <a:ln w="19050">
            <a:solidFill>
              <a:srgbClr val="B8C4D8"/>
            </a:solidFill>
            <a:prstDash val="solid"/>
          </a:ln>
        </p:spPr>
      </p:sp>
      <p:sp>
        <p:nvSpPr>
          <p:cNvPr id="10" name="Shape 7"/>
          <p:cNvSpPr/>
          <p:nvPr/>
        </p:nvSpPr>
        <p:spPr>
          <a:xfrm>
            <a:off x="3749040" y="1783080"/>
            <a:ext cx="0" cy="2011680"/>
          </a:xfrm>
          <a:prstGeom prst="line">
            <a:avLst/>
          </a:prstGeom>
          <a:noFill/>
          <a:ln w="19050">
            <a:solidFill>
              <a:srgbClr val="B8C4D8"/>
            </a:solidFill>
            <a:prstDash val="solid"/>
          </a:ln>
        </p:spPr>
      </p:sp>
      <p:sp>
        <p:nvSpPr>
          <p:cNvPr id="11" name="Shape 8"/>
          <p:cNvSpPr/>
          <p:nvPr/>
        </p:nvSpPr>
        <p:spPr>
          <a:xfrm>
            <a:off x="3749040" y="1783080"/>
            <a:ext cx="1371600" cy="1005840"/>
          </a:xfrm>
          <a:prstGeom prst="line">
            <a:avLst/>
          </a:prstGeom>
          <a:noFill/>
          <a:ln w="19050">
            <a:solidFill>
              <a:srgbClr val="B8C4D8"/>
            </a:solidFill>
            <a:prstDash val="solid"/>
          </a:ln>
        </p:spPr>
      </p:sp>
      <p:sp>
        <p:nvSpPr>
          <p:cNvPr id="12" name="Shape 9"/>
          <p:cNvSpPr/>
          <p:nvPr/>
        </p:nvSpPr>
        <p:spPr>
          <a:xfrm flipV="1">
            <a:off x="3749040" y="2788920"/>
            <a:ext cx="1371600" cy="1005840"/>
          </a:xfrm>
          <a:prstGeom prst="line">
            <a:avLst/>
          </a:prstGeom>
          <a:noFill/>
          <a:ln w="19050">
            <a:solidFill>
              <a:srgbClr val="B8C4D8"/>
            </a:solidFill>
            <a:prstDash val="solid"/>
          </a:ln>
        </p:spPr>
      </p:sp>
      <p:sp>
        <p:nvSpPr>
          <p:cNvPr id="13" name="Text 10"/>
          <p:cNvSpPr txBox="1"/>
          <p:nvPr/>
        </p:nvSpPr>
        <p:spPr>
          <a:xfrm>
            <a:off x="1280160" y="217627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4</a:t>
            </a:r>
            <a:endParaRPr lang="en-US" sz="1100" dirty="0"/>
          </a:p>
        </p:txBody>
      </p:sp>
      <p:sp>
        <p:nvSpPr>
          <p:cNvPr id="14" name="Text 11"/>
          <p:cNvSpPr txBox="1"/>
          <p:nvPr/>
        </p:nvSpPr>
        <p:spPr>
          <a:xfrm>
            <a:off x="1280160" y="318211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2</a:t>
            </a:r>
            <a:endParaRPr lang="en-US" sz="1100" dirty="0"/>
          </a:p>
        </p:txBody>
      </p:sp>
      <p:sp>
        <p:nvSpPr>
          <p:cNvPr id="15" name="Text 12"/>
          <p:cNvSpPr txBox="1"/>
          <p:nvPr/>
        </p:nvSpPr>
        <p:spPr>
          <a:xfrm>
            <a:off x="1965960" y="267919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1</a:t>
            </a:r>
            <a:endParaRPr lang="en-US" sz="1100" dirty="0"/>
          </a:p>
        </p:txBody>
      </p:sp>
      <p:sp>
        <p:nvSpPr>
          <p:cNvPr id="16" name="Text 13"/>
          <p:cNvSpPr txBox="1"/>
          <p:nvPr/>
        </p:nvSpPr>
        <p:spPr>
          <a:xfrm>
            <a:off x="2788920" y="167335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5</a:t>
            </a:r>
            <a:endParaRPr lang="en-US" sz="1100" dirty="0"/>
          </a:p>
        </p:txBody>
      </p:sp>
      <p:sp>
        <p:nvSpPr>
          <p:cNvPr id="17" name="Text 14"/>
          <p:cNvSpPr txBox="1"/>
          <p:nvPr/>
        </p:nvSpPr>
        <p:spPr>
          <a:xfrm>
            <a:off x="2788920" y="267919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8</a:t>
            </a:r>
            <a:endParaRPr lang="en-US" sz="1100" dirty="0"/>
          </a:p>
        </p:txBody>
      </p:sp>
      <p:sp>
        <p:nvSpPr>
          <p:cNvPr id="18" name="Text 15"/>
          <p:cNvSpPr txBox="1"/>
          <p:nvPr/>
        </p:nvSpPr>
        <p:spPr>
          <a:xfrm>
            <a:off x="2788920" y="368503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10</a:t>
            </a:r>
            <a:endParaRPr lang="en-US" sz="1100" dirty="0"/>
          </a:p>
        </p:txBody>
      </p:sp>
      <p:sp>
        <p:nvSpPr>
          <p:cNvPr id="19" name="Text 16"/>
          <p:cNvSpPr txBox="1"/>
          <p:nvPr/>
        </p:nvSpPr>
        <p:spPr>
          <a:xfrm>
            <a:off x="3611880" y="267919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2</a:t>
            </a:r>
            <a:endParaRPr lang="en-US" sz="1100" dirty="0"/>
          </a:p>
        </p:txBody>
      </p:sp>
      <p:sp>
        <p:nvSpPr>
          <p:cNvPr id="20" name="Text 17"/>
          <p:cNvSpPr txBox="1"/>
          <p:nvPr/>
        </p:nvSpPr>
        <p:spPr>
          <a:xfrm>
            <a:off x="4297680" y="217627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6</a:t>
            </a:r>
            <a:endParaRPr lang="en-US" sz="1100" dirty="0"/>
          </a:p>
        </p:txBody>
      </p:sp>
      <p:sp>
        <p:nvSpPr>
          <p:cNvPr id="21" name="Text 18"/>
          <p:cNvSpPr txBox="1"/>
          <p:nvPr/>
        </p:nvSpPr>
        <p:spPr>
          <a:xfrm>
            <a:off x="4297680" y="318211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3</a:t>
            </a:r>
            <a:endParaRPr lang="en-US" sz="1100" dirty="0"/>
          </a:p>
        </p:txBody>
      </p:sp>
      <p:sp>
        <p:nvSpPr>
          <p:cNvPr id="22" name="Text 19"/>
          <p:cNvSpPr txBox="1"/>
          <p:nvPr/>
        </p:nvSpPr>
        <p:spPr>
          <a:xfrm>
            <a:off x="530352" y="2587752"/>
            <a:ext cx="402336" cy="402336"/>
          </a:xfrm>
          <a:prstGeom prst="ellipse">
            <a:avLst/>
          </a:prstGeom>
          <a:solidFill>
            <a:schemeClr val="accent4"/>
          </a:solidFill>
          <a:ln w="25400">
            <a:solidFill>
              <a:schemeClr val="accent4"/>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23" name="Text 20"/>
          <p:cNvSpPr txBox="1"/>
          <p:nvPr/>
        </p:nvSpPr>
        <p:spPr>
          <a:xfrm>
            <a:off x="320040" y="2313432"/>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0</a:t>
            </a:r>
            <a:endParaRPr lang="en-US" sz="1200" dirty="0"/>
          </a:p>
        </p:txBody>
      </p:sp>
      <p:sp>
        <p:nvSpPr>
          <p:cNvPr id="24" name="Text 21"/>
          <p:cNvSpPr txBox="1"/>
          <p:nvPr/>
        </p:nvSpPr>
        <p:spPr>
          <a:xfrm>
            <a:off x="1901952" y="1581912"/>
            <a:ext cx="402336" cy="402336"/>
          </a:xfrm>
          <a:prstGeom prst="ellipse">
            <a:avLst/>
          </a:prstGeom>
          <a:solidFill>
            <a:schemeClr val="bg1"/>
          </a:solidFill>
          <a:ln w="25400">
            <a:solidFill>
              <a:schemeClr val="accent1"/>
            </a:solidFill>
          </a:ln>
        </p:spPr>
        <p:txBody>
          <a:bodyPr wrap="square" lIns="0" tIns="0" rIns="0" bIns="0" rtlCol="0" anchor="ctr"/>
          <a:lstStyle/>
          <a:p>
            <a:pPr algn="ctr" indent="0" marL="0">
              <a:buNone/>
            </a:pPr>
            <a:r>
              <a:rPr lang="en-US" sz="1400" b="1" dirty="0">
                <a:solidFill>
                  <a:schemeClr val="tx1"/>
                </a:solidFill>
              </a:rPr>
              <a:t>B</a:t>
            </a:r>
            <a:endParaRPr lang="en-US" sz="1400" dirty="0"/>
          </a:p>
        </p:txBody>
      </p:sp>
      <p:sp>
        <p:nvSpPr>
          <p:cNvPr id="25" name="Text 22"/>
          <p:cNvSpPr txBox="1"/>
          <p:nvPr/>
        </p:nvSpPr>
        <p:spPr>
          <a:xfrm>
            <a:off x="1691640" y="1307592"/>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3</a:t>
            </a:r>
            <a:endParaRPr lang="en-US" sz="1200" dirty="0"/>
          </a:p>
        </p:txBody>
      </p:sp>
      <p:sp>
        <p:nvSpPr>
          <p:cNvPr id="26" name="Text 23"/>
          <p:cNvSpPr txBox="1"/>
          <p:nvPr/>
        </p:nvSpPr>
        <p:spPr>
          <a:xfrm>
            <a:off x="1901952" y="3593592"/>
            <a:ext cx="402336" cy="402336"/>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7" name="Text 24"/>
          <p:cNvSpPr txBox="1"/>
          <p:nvPr/>
        </p:nvSpPr>
        <p:spPr>
          <a:xfrm>
            <a:off x="1691640" y="4032504"/>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2</a:t>
            </a:r>
            <a:endParaRPr lang="en-US" sz="1200" dirty="0"/>
          </a:p>
        </p:txBody>
      </p:sp>
      <p:sp>
        <p:nvSpPr>
          <p:cNvPr id="28" name="Text 25"/>
          <p:cNvSpPr txBox="1"/>
          <p:nvPr/>
        </p:nvSpPr>
        <p:spPr>
          <a:xfrm>
            <a:off x="3547872" y="1581912"/>
            <a:ext cx="402336" cy="402336"/>
          </a:xfrm>
          <a:prstGeom prst="ellipse">
            <a:avLst/>
          </a:prstGeom>
          <a:solidFill>
            <a:schemeClr val="bg1"/>
          </a:solidFill>
          <a:ln w="25400">
            <a:solidFill>
              <a:schemeClr val="accent1"/>
            </a:solidFill>
          </a:ln>
        </p:spPr>
        <p:txBody>
          <a:bodyPr wrap="square" lIns="0" tIns="0" rIns="0" bIns="0" rtlCol="0" anchor="ctr"/>
          <a:lstStyle/>
          <a:p>
            <a:pPr algn="ctr" indent="0" marL="0">
              <a:buNone/>
            </a:pPr>
            <a:r>
              <a:rPr lang="en-US" sz="1400" b="1" dirty="0">
                <a:solidFill>
                  <a:schemeClr val="tx1"/>
                </a:solidFill>
              </a:rPr>
              <a:t>D</a:t>
            </a:r>
            <a:endParaRPr lang="en-US" sz="1400" dirty="0"/>
          </a:p>
        </p:txBody>
      </p:sp>
      <p:sp>
        <p:nvSpPr>
          <p:cNvPr id="29" name="Text 26"/>
          <p:cNvSpPr txBox="1"/>
          <p:nvPr/>
        </p:nvSpPr>
        <p:spPr>
          <a:xfrm>
            <a:off x="3337560" y="1307592"/>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10</a:t>
            </a:r>
            <a:endParaRPr lang="en-US" sz="1200" dirty="0"/>
          </a:p>
        </p:txBody>
      </p:sp>
      <p:sp>
        <p:nvSpPr>
          <p:cNvPr id="30" name="Text 27"/>
          <p:cNvSpPr txBox="1"/>
          <p:nvPr/>
        </p:nvSpPr>
        <p:spPr>
          <a:xfrm>
            <a:off x="3547872" y="3593592"/>
            <a:ext cx="402336" cy="402336"/>
          </a:xfrm>
          <a:prstGeom prst="ellipse">
            <a:avLst/>
          </a:prstGeom>
          <a:solidFill>
            <a:schemeClr val="bg1"/>
          </a:solidFill>
          <a:ln w="25400">
            <a:solidFill>
              <a:schemeClr val="accent1"/>
            </a:solidFill>
          </a:ln>
        </p:spPr>
        <p:txBody>
          <a:bodyPr wrap="square" lIns="0" tIns="0" rIns="0" bIns="0" rtlCol="0" anchor="ctr"/>
          <a:lstStyle/>
          <a:p>
            <a:pPr algn="ctr" indent="0" marL="0">
              <a:buNone/>
            </a:pPr>
            <a:r>
              <a:rPr lang="en-US" sz="1400" b="1" dirty="0">
                <a:solidFill>
                  <a:schemeClr val="tx1"/>
                </a:solidFill>
              </a:rPr>
              <a:t>E</a:t>
            </a:r>
            <a:endParaRPr lang="en-US" sz="1400" dirty="0"/>
          </a:p>
        </p:txBody>
      </p:sp>
      <p:sp>
        <p:nvSpPr>
          <p:cNvPr id="31" name="Text 28"/>
          <p:cNvSpPr txBox="1"/>
          <p:nvPr/>
        </p:nvSpPr>
        <p:spPr>
          <a:xfrm>
            <a:off x="3337560" y="4032504"/>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12</a:t>
            </a:r>
            <a:endParaRPr lang="en-US" sz="1200" dirty="0"/>
          </a:p>
        </p:txBody>
      </p:sp>
      <p:sp>
        <p:nvSpPr>
          <p:cNvPr id="32" name="Text 29"/>
          <p:cNvSpPr txBox="1"/>
          <p:nvPr/>
        </p:nvSpPr>
        <p:spPr>
          <a:xfrm>
            <a:off x="4919472" y="2587752"/>
            <a:ext cx="402336" cy="402336"/>
          </a:xfrm>
          <a:prstGeom prst="ellipse">
            <a:avLst/>
          </a:prstGeom>
          <a:solidFill>
            <a:schemeClr val="accent3"/>
          </a:solidFill>
          <a:ln w="25400">
            <a:solidFill>
              <a:schemeClr val="accent3"/>
            </a:solidFill>
          </a:ln>
        </p:spPr>
        <p:txBody>
          <a:bodyPr wrap="square" lIns="0" tIns="0" rIns="0" bIns="0" rtlCol="0" anchor="ctr"/>
          <a:lstStyle/>
          <a:p>
            <a:pPr algn="ctr" indent="0" marL="0">
              <a:buNone/>
            </a:pPr>
            <a:r>
              <a:rPr lang="en-US" sz="1400" b="1" dirty="0">
                <a:solidFill>
                  <a:schemeClr val="tx1"/>
                </a:solidFill>
              </a:rPr>
              <a:t>F</a:t>
            </a:r>
            <a:endParaRPr lang="en-US" sz="1400" dirty="0"/>
          </a:p>
        </p:txBody>
      </p:sp>
      <p:sp>
        <p:nvSpPr>
          <p:cNvPr id="33" name="Text 30"/>
          <p:cNvSpPr txBox="1"/>
          <p:nvPr/>
        </p:nvSpPr>
        <p:spPr>
          <a:xfrm>
            <a:off x="4709160" y="2313432"/>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a:t>
            </a:r>
            <a:endParaRPr lang="en-US" sz="1200" dirty="0"/>
          </a:p>
        </p:txBody>
      </p:sp>
      <p:sp>
        <p:nvSpPr>
          <p:cNvPr id="34" name="Text 31"/>
          <p:cNvSpPr txBox="1"/>
          <p:nvPr/>
        </p:nvSpPr>
        <p:spPr>
          <a:xfrm>
            <a:off x="548640" y="4279392"/>
            <a:ext cx="182880" cy="182880"/>
          </a:xfrm>
          <a:prstGeom prst="ellipse">
            <a:avLst/>
          </a:prstGeom>
          <a:solidFill>
            <a:schemeClr val="accent4"/>
          </a:solidFill>
          <a:ln w="25400">
            <a:solidFill>
              <a:schemeClr val="accent1"/>
            </a:solidFill>
          </a:ln>
        </p:spPr>
        <p:txBody>
          <a:bodyPr wrap="square" lIns="0" tIns="0" rIns="0" bIns="0" rtlCol="0" anchor="ctr"/>
          <a:lstStyle/>
          <a:p>
            <a:pPr algn="ctr" indent="0" marL="0">
              <a:buNone/>
            </a:pPr>
            <a:endParaRPr lang="en-US" sz="1000" dirty="0"/>
          </a:p>
        </p:txBody>
      </p:sp>
      <p:sp>
        <p:nvSpPr>
          <p:cNvPr id="35" name="Text 32"/>
          <p:cNvSpPr txBox="1"/>
          <p:nvPr/>
        </p:nvSpPr>
        <p:spPr>
          <a:xfrm>
            <a:off x="804672" y="4261104"/>
            <a:ext cx="960120" cy="228600"/>
          </a:xfrm>
          <a:prstGeom prst="rect">
            <a:avLst/>
          </a:prstGeom>
          <a:noFill/>
          <a:ln/>
        </p:spPr>
        <p:txBody>
          <a:bodyPr wrap="square" lIns="0" tIns="0" rIns="0" bIns="0" rtlCol="0" anchor="t"/>
          <a:lstStyle/>
          <a:p>
            <a:pPr indent="0" marL="0">
              <a:buNone/>
            </a:pPr>
            <a:r>
              <a:rPr lang="en-US" sz="1200" dirty="0">
                <a:solidFill>
                  <a:schemeClr val="tx1"/>
                </a:solidFill>
              </a:rPr>
              <a:t>Source</a:t>
            </a:r>
            <a:endParaRPr lang="en-US" sz="1200" dirty="0"/>
          </a:p>
        </p:txBody>
      </p:sp>
      <p:sp>
        <p:nvSpPr>
          <p:cNvPr id="36" name="Text 33"/>
          <p:cNvSpPr txBox="1"/>
          <p:nvPr/>
        </p:nvSpPr>
        <p:spPr>
          <a:xfrm>
            <a:off x="1783080" y="4279392"/>
            <a:ext cx="182880" cy="182880"/>
          </a:xfrm>
          <a:prstGeom prst="ellipse">
            <a:avLst/>
          </a:prstGeom>
          <a:solidFill>
            <a:schemeClr val="accent3"/>
          </a:solidFill>
          <a:ln w="25400">
            <a:solidFill>
              <a:schemeClr val="accent1"/>
            </a:solidFill>
          </a:ln>
        </p:spPr>
        <p:txBody>
          <a:bodyPr wrap="square" lIns="0" tIns="0" rIns="0" bIns="0" rtlCol="0" anchor="ctr"/>
          <a:lstStyle/>
          <a:p>
            <a:pPr algn="ctr" indent="0" marL="0">
              <a:buNone/>
            </a:pPr>
            <a:endParaRPr lang="en-US" sz="1000" dirty="0"/>
          </a:p>
        </p:txBody>
      </p:sp>
      <p:sp>
        <p:nvSpPr>
          <p:cNvPr id="37" name="Text 34"/>
          <p:cNvSpPr txBox="1"/>
          <p:nvPr/>
        </p:nvSpPr>
        <p:spPr>
          <a:xfrm>
            <a:off x="2039112" y="4261104"/>
            <a:ext cx="960120" cy="228600"/>
          </a:xfrm>
          <a:prstGeom prst="rect">
            <a:avLst/>
          </a:prstGeom>
          <a:noFill/>
          <a:ln/>
        </p:spPr>
        <p:txBody>
          <a:bodyPr wrap="square" lIns="0" tIns="0" rIns="0" bIns="0" rtlCol="0" anchor="t"/>
          <a:lstStyle/>
          <a:p>
            <a:pPr indent="0" marL="0">
              <a:buNone/>
            </a:pPr>
            <a:r>
              <a:rPr lang="en-US" sz="1200" dirty="0">
                <a:solidFill>
                  <a:schemeClr val="tx1"/>
                </a:solidFill>
              </a:rPr>
              <a:t>Destination</a:t>
            </a:r>
            <a:endParaRPr lang="en-US" sz="1200" dirty="0"/>
          </a:p>
        </p:txBody>
      </p:sp>
      <p:sp>
        <p:nvSpPr>
          <p:cNvPr id="38" name="Text 35"/>
          <p:cNvSpPr txBox="1"/>
          <p:nvPr/>
        </p:nvSpPr>
        <p:spPr>
          <a:xfrm>
            <a:off x="3017520" y="4279392"/>
            <a:ext cx="182880" cy="182880"/>
          </a:xfrm>
          <a:prstGeom prst="ellipse">
            <a:avLst/>
          </a:prstGeom>
          <a:solidFill>
            <a:schemeClr val="accent1"/>
          </a:solidFill>
          <a:ln w="25400">
            <a:solidFill>
              <a:schemeClr val="accent1"/>
            </a:solidFill>
          </a:ln>
        </p:spPr>
        <p:txBody>
          <a:bodyPr wrap="square" lIns="0" tIns="0" rIns="0" bIns="0" rtlCol="0" anchor="ctr"/>
          <a:lstStyle/>
          <a:p>
            <a:pPr algn="ctr" indent="0" marL="0">
              <a:buNone/>
            </a:pPr>
            <a:endParaRPr lang="en-US" sz="1000" dirty="0"/>
          </a:p>
        </p:txBody>
      </p:sp>
      <p:sp>
        <p:nvSpPr>
          <p:cNvPr id="39" name="Text 36"/>
          <p:cNvSpPr txBox="1"/>
          <p:nvPr/>
        </p:nvSpPr>
        <p:spPr>
          <a:xfrm>
            <a:off x="3273552" y="4261104"/>
            <a:ext cx="960120" cy="228600"/>
          </a:xfrm>
          <a:prstGeom prst="rect">
            <a:avLst/>
          </a:prstGeom>
          <a:noFill/>
          <a:ln/>
        </p:spPr>
        <p:txBody>
          <a:bodyPr wrap="square" lIns="0" tIns="0" rIns="0" bIns="0" rtlCol="0" anchor="t"/>
          <a:lstStyle/>
          <a:p>
            <a:pPr indent="0" marL="0">
              <a:buNone/>
            </a:pPr>
            <a:r>
              <a:rPr lang="en-US" sz="1200" dirty="0">
                <a:solidFill>
                  <a:schemeClr val="tx1"/>
                </a:solidFill>
              </a:rPr>
              <a:t>Visited</a:t>
            </a:r>
            <a:endParaRPr lang="en-US" sz="1200" dirty="0"/>
          </a:p>
        </p:txBody>
      </p:sp>
      <p:sp>
        <p:nvSpPr>
          <p:cNvPr id="40" name="Text 37"/>
          <p:cNvSpPr txBox="1"/>
          <p:nvPr/>
        </p:nvSpPr>
        <p:spPr>
          <a:xfrm>
            <a:off x="4251960" y="4279392"/>
            <a:ext cx="182880" cy="182880"/>
          </a:xfrm>
          <a:prstGeom prst="ellipse">
            <a:avLst/>
          </a:prstGeom>
          <a:solidFill>
            <a:schemeClr val="bg1"/>
          </a:solidFill>
          <a:ln w="25400">
            <a:solidFill>
              <a:schemeClr val="accent1"/>
            </a:solidFill>
          </a:ln>
        </p:spPr>
        <p:txBody>
          <a:bodyPr wrap="square" lIns="0" tIns="0" rIns="0" bIns="0" rtlCol="0" anchor="ctr"/>
          <a:lstStyle/>
          <a:p>
            <a:pPr algn="ctr" indent="0" marL="0">
              <a:buNone/>
            </a:pPr>
            <a:endParaRPr lang="en-US" sz="1000" dirty="0"/>
          </a:p>
        </p:txBody>
      </p:sp>
      <p:sp>
        <p:nvSpPr>
          <p:cNvPr id="41" name="Text 38"/>
          <p:cNvSpPr txBox="1"/>
          <p:nvPr/>
        </p:nvSpPr>
        <p:spPr>
          <a:xfrm>
            <a:off x="4507992" y="4261104"/>
            <a:ext cx="960120" cy="228600"/>
          </a:xfrm>
          <a:prstGeom prst="rect">
            <a:avLst/>
          </a:prstGeom>
          <a:noFill/>
          <a:ln/>
        </p:spPr>
        <p:txBody>
          <a:bodyPr wrap="square" lIns="0" tIns="0" rIns="0" bIns="0" rtlCol="0" anchor="t"/>
          <a:lstStyle/>
          <a:p>
            <a:pPr indent="0" marL="0">
              <a:buNone/>
            </a:pPr>
            <a:r>
              <a:rPr lang="en-US" sz="1200" dirty="0">
                <a:solidFill>
                  <a:schemeClr val="tx1"/>
                </a:solidFill>
              </a:rPr>
              <a:t>Unvisited</a:t>
            </a:r>
            <a:endParaRPr lang="en-US" sz="1200" dirty="0"/>
          </a:p>
        </p:txBody>
      </p:sp>
      <p:sp>
        <p:nvSpPr>
          <p:cNvPr id="42" name="Shape 39"/>
          <p:cNvSpPr/>
          <p:nvPr/>
        </p:nvSpPr>
        <p:spPr>
          <a:xfrm>
            <a:off x="5486400" y="1234440"/>
            <a:ext cx="3200400" cy="594360"/>
          </a:xfrm>
          <a:prstGeom prst="roundRect">
            <a:avLst>
              <a:gd name="adj" fmla="val 18462"/>
            </a:avLst>
          </a:prstGeom>
          <a:solidFill>
            <a:srgbClr val="EAF2FF"/>
          </a:solidFill>
          <a:ln/>
        </p:spPr>
      </p:sp>
      <p:sp>
        <p:nvSpPr>
          <p:cNvPr id="43" name="Text 40"/>
          <p:cNvSpPr txBox="1"/>
          <p:nvPr/>
        </p:nvSpPr>
        <p:spPr>
          <a:xfrm>
            <a:off x="5623560" y="1289304"/>
            <a:ext cx="3017520" cy="256032"/>
          </a:xfrm>
          <a:prstGeom prst="rect">
            <a:avLst/>
          </a:prstGeom>
          <a:noFill/>
          <a:ln/>
        </p:spPr>
        <p:txBody>
          <a:bodyPr wrap="square" lIns="0" tIns="0" rIns="0" bIns="0" rtlCol="0" anchor="t"/>
          <a:lstStyle/>
          <a:p>
            <a:pPr indent="0" marL="0">
              <a:buNone/>
            </a:pPr>
            <a:r>
              <a:rPr lang="en-US" sz="1400" b="1" dirty="0">
                <a:solidFill>
                  <a:schemeClr val="accent1"/>
                </a:solidFill>
              </a:rPr>
              <a:t>Source vertex (s)</a:t>
            </a:r>
            <a:endParaRPr lang="en-US" sz="1400" dirty="0"/>
          </a:p>
        </p:txBody>
      </p:sp>
      <p:sp>
        <p:nvSpPr>
          <p:cNvPr id="44" name="Text 41"/>
          <p:cNvSpPr txBox="1"/>
          <p:nvPr/>
        </p:nvSpPr>
        <p:spPr>
          <a:xfrm>
            <a:off x="5623560" y="1545336"/>
            <a:ext cx="3017520" cy="237744"/>
          </a:xfrm>
          <a:prstGeom prst="rect">
            <a:avLst/>
          </a:prstGeom>
          <a:noFill/>
          <a:ln/>
        </p:spPr>
        <p:txBody>
          <a:bodyPr wrap="square" lIns="0" tIns="0" rIns="0" bIns="0" rtlCol="0" anchor="t"/>
          <a:lstStyle/>
          <a:p>
            <a:pPr indent="0" marL="0">
              <a:buNone/>
            </a:pPr>
            <a:r>
              <a:rPr lang="en-US" sz="1300" dirty="0">
                <a:solidFill>
                  <a:schemeClr val="tx1"/>
                </a:solidFill>
              </a:rPr>
              <a:t>Where we start; d(s) = 0</a:t>
            </a:r>
            <a:endParaRPr lang="en-US" sz="1300" dirty="0"/>
          </a:p>
        </p:txBody>
      </p:sp>
      <p:sp>
        <p:nvSpPr>
          <p:cNvPr id="45" name="Shape 42"/>
          <p:cNvSpPr/>
          <p:nvPr/>
        </p:nvSpPr>
        <p:spPr>
          <a:xfrm>
            <a:off x="5486400" y="1920240"/>
            <a:ext cx="3200400" cy="594360"/>
          </a:xfrm>
          <a:prstGeom prst="roundRect">
            <a:avLst>
              <a:gd name="adj" fmla="val 18462"/>
            </a:avLst>
          </a:prstGeom>
          <a:solidFill>
            <a:srgbClr val="EAF2FF"/>
          </a:solidFill>
          <a:ln/>
        </p:spPr>
      </p:sp>
      <p:sp>
        <p:nvSpPr>
          <p:cNvPr id="46" name="Text 43"/>
          <p:cNvSpPr txBox="1"/>
          <p:nvPr/>
        </p:nvSpPr>
        <p:spPr>
          <a:xfrm>
            <a:off x="5623560" y="1975104"/>
            <a:ext cx="3017520" cy="256032"/>
          </a:xfrm>
          <a:prstGeom prst="rect">
            <a:avLst/>
          </a:prstGeom>
          <a:noFill/>
          <a:ln/>
        </p:spPr>
        <p:txBody>
          <a:bodyPr wrap="square" lIns="0" tIns="0" rIns="0" bIns="0" rtlCol="0" anchor="t"/>
          <a:lstStyle/>
          <a:p>
            <a:pPr indent="0" marL="0">
              <a:buNone/>
            </a:pPr>
            <a:r>
              <a:rPr lang="en-US" sz="1400" b="1" dirty="0">
                <a:solidFill>
                  <a:schemeClr val="accent1"/>
                </a:solidFill>
              </a:rPr>
              <a:t>Destination vertex</a:t>
            </a:r>
            <a:endParaRPr lang="en-US" sz="1400" dirty="0"/>
          </a:p>
        </p:txBody>
      </p:sp>
      <p:sp>
        <p:nvSpPr>
          <p:cNvPr id="47" name="Text 44"/>
          <p:cNvSpPr txBox="1"/>
          <p:nvPr/>
        </p:nvSpPr>
        <p:spPr>
          <a:xfrm>
            <a:off x="5623560" y="2231136"/>
            <a:ext cx="3017520" cy="237744"/>
          </a:xfrm>
          <a:prstGeom prst="rect">
            <a:avLst/>
          </a:prstGeom>
          <a:noFill/>
          <a:ln/>
        </p:spPr>
        <p:txBody>
          <a:bodyPr wrap="square" lIns="0" tIns="0" rIns="0" bIns="0" rtlCol="0" anchor="t"/>
          <a:lstStyle/>
          <a:p>
            <a:pPr indent="0" marL="0">
              <a:buNone/>
            </a:pPr>
            <a:r>
              <a:rPr lang="en-US" sz="1300" dirty="0">
                <a:solidFill>
                  <a:schemeClr val="tx1"/>
                </a:solidFill>
              </a:rPr>
              <a:t>Vertex whose shortest path we want</a:t>
            </a:r>
            <a:endParaRPr lang="en-US" sz="1300" dirty="0"/>
          </a:p>
        </p:txBody>
      </p:sp>
      <p:sp>
        <p:nvSpPr>
          <p:cNvPr id="48" name="Shape 45"/>
          <p:cNvSpPr/>
          <p:nvPr/>
        </p:nvSpPr>
        <p:spPr>
          <a:xfrm>
            <a:off x="5486400" y="2606040"/>
            <a:ext cx="3200400" cy="594360"/>
          </a:xfrm>
          <a:prstGeom prst="roundRect">
            <a:avLst>
              <a:gd name="adj" fmla="val 18462"/>
            </a:avLst>
          </a:prstGeom>
          <a:solidFill>
            <a:srgbClr val="EAF2FF"/>
          </a:solidFill>
          <a:ln/>
        </p:spPr>
      </p:sp>
      <p:sp>
        <p:nvSpPr>
          <p:cNvPr id="49" name="Text 46"/>
          <p:cNvSpPr txBox="1"/>
          <p:nvPr/>
        </p:nvSpPr>
        <p:spPr>
          <a:xfrm>
            <a:off x="5623560" y="2660904"/>
            <a:ext cx="3017520" cy="256032"/>
          </a:xfrm>
          <a:prstGeom prst="rect">
            <a:avLst/>
          </a:prstGeom>
          <a:noFill/>
          <a:ln/>
        </p:spPr>
        <p:txBody>
          <a:bodyPr wrap="square" lIns="0" tIns="0" rIns="0" bIns="0" rtlCol="0" anchor="t"/>
          <a:lstStyle/>
          <a:p>
            <a:pPr indent="0" marL="0">
              <a:buNone/>
            </a:pPr>
            <a:r>
              <a:rPr lang="en-US" sz="1400" b="1" dirty="0">
                <a:solidFill>
                  <a:schemeClr val="accent1"/>
                </a:solidFill>
              </a:rPr>
              <a:t>Edge weight w(u,v)</a:t>
            </a:r>
            <a:endParaRPr lang="en-US" sz="1400" dirty="0"/>
          </a:p>
        </p:txBody>
      </p:sp>
      <p:sp>
        <p:nvSpPr>
          <p:cNvPr id="50" name="Text 47"/>
          <p:cNvSpPr txBox="1"/>
          <p:nvPr/>
        </p:nvSpPr>
        <p:spPr>
          <a:xfrm>
            <a:off x="5623560" y="2916936"/>
            <a:ext cx="3017520" cy="237744"/>
          </a:xfrm>
          <a:prstGeom prst="rect">
            <a:avLst/>
          </a:prstGeom>
          <a:noFill/>
          <a:ln/>
        </p:spPr>
        <p:txBody>
          <a:bodyPr wrap="square" lIns="0" tIns="0" rIns="0" bIns="0" rtlCol="0" anchor="t"/>
          <a:lstStyle/>
          <a:p>
            <a:pPr indent="0" marL="0">
              <a:buNone/>
            </a:pPr>
            <a:r>
              <a:rPr lang="en-US" sz="1300" dirty="0">
                <a:solidFill>
                  <a:schemeClr val="tx1"/>
                </a:solidFill>
              </a:rPr>
              <a:t>Cost of travelling from u to v</a:t>
            </a:r>
            <a:endParaRPr lang="en-US" sz="1300" dirty="0"/>
          </a:p>
        </p:txBody>
      </p:sp>
      <p:sp>
        <p:nvSpPr>
          <p:cNvPr id="51" name="Shape 48"/>
          <p:cNvSpPr/>
          <p:nvPr/>
        </p:nvSpPr>
        <p:spPr>
          <a:xfrm>
            <a:off x="5486400" y="3291840"/>
            <a:ext cx="3200400" cy="594360"/>
          </a:xfrm>
          <a:prstGeom prst="roundRect">
            <a:avLst>
              <a:gd name="adj" fmla="val 18462"/>
            </a:avLst>
          </a:prstGeom>
          <a:solidFill>
            <a:srgbClr val="EAF2FF"/>
          </a:solidFill>
          <a:ln/>
        </p:spPr>
      </p:sp>
      <p:sp>
        <p:nvSpPr>
          <p:cNvPr id="52" name="Text 49"/>
          <p:cNvSpPr txBox="1"/>
          <p:nvPr/>
        </p:nvSpPr>
        <p:spPr>
          <a:xfrm>
            <a:off x="5623560" y="3346704"/>
            <a:ext cx="3017520" cy="256032"/>
          </a:xfrm>
          <a:prstGeom prst="rect">
            <a:avLst/>
          </a:prstGeom>
          <a:noFill/>
          <a:ln/>
        </p:spPr>
        <p:txBody>
          <a:bodyPr wrap="square" lIns="0" tIns="0" rIns="0" bIns="0" rtlCol="0" anchor="t"/>
          <a:lstStyle/>
          <a:p>
            <a:pPr indent="0" marL="0">
              <a:buNone/>
            </a:pPr>
            <a:r>
              <a:rPr lang="en-US" sz="1400" b="1" dirty="0">
                <a:solidFill>
                  <a:schemeClr val="accent1"/>
                </a:solidFill>
              </a:rPr>
              <a:t>Tentative distance d[v]</a:t>
            </a:r>
            <a:endParaRPr lang="en-US" sz="1400" dirty="0"/>
          </a:p>
        </p:txBody>
      </p:sp>
      <p:sp>
        <p:nvSpPr>
          <p:cNvPr id="53" name="Text 50"/>
          <p:cNvSpPr txBox="1"/>
          <p:nvPr/>
        </p:nvSpPr>
        <p:spPr>
          <a:xfrm>
            <a:off x="5623560" y="3602736"/>
            <a:ext cx="3017520" cy="237744"/>
          </a:xfrm>
          <a:prstGeom prst="rect">
            <a:avLst/>
          </a:prstGeom>
          <a:noFill/>
          <a:ln/>
        </p:spPr>
        <p:txBody>
          <a:bodyPr wrap="square" lIns="0" tIns="0" rIns="0" bIns="0" rtlCol="0" anchor="t"/>
          <a:lstStyle/>
          <a:p>
            <a:pPr indent="0" marL="0">
              <a:buNone/>
            </a:pPr>
            <a:r>
              <a:rPr lang="en-US" sz="1300" dirty="0">
                <a:solidFill>
                  <a:schemeClr val="tx1"/>
                </a:solidFill>
              </a:rPr>
              <a:t>Best distance to v found so far</a:t>
            </a:r>
            <a:endParaRPr lang="en-US" sz="1300" dirty="0"/>
          </a:p>
        </p:txBody>
      </p:sp>
      <p:sp>
        <p:nvSpPr>
          <p:cNvPr id="54" name="Shape 51"/>
          <p:cNvSpPr/>
          <p:nvPr/>
        </p:nvSpPr>
        <p:spPr>
          <a:xfrm>
            <a:off x="5486400" y="3977640"/>
            <a:ext cx="3200400" cy="594360"/>
          </a:xfrm>
          <a:prstGeom prst="roundRect">
            <a:avLst>
              <a:gd name="adj" fmla="val 18462"/>
            </a:avLst>
          </a:prstGeom>
          <a:solidFill>
            <a:srgbClr val="EAF2FF"/>
          </a:solidFill>
          <a:ln/>
        </p:spPr>
      </p:sp>
      <p:sp>
        <p:nvSpPr>
          <p:cNvPr id="55" name="Text 52"/>
          <p:cNvSpPr txBox="1"/>
          <p:nvPr/>
        </p:nvSpPr>
        <p:spPr>
          <a:xfrm>
            <a:off x="5623560" y="4032504"/>
            <a:ext cx="3017520" cy="256032"/>
          </a:xfrm>
          <a:prstGeom prst="rect">
            <a:avLst/>
          </a:prstGeom>
          <a:noFill/>
          <a:ln/>
        </p:spPr>
        <p:txBody>
          <a:bodyPr wrap="square" lIns="0" tIns="0" rIns="0" bIns="0" rtlCol="0" anchor="t"/>
          <a:lstStyle/>
          <a:p>
            <a:pPr indent="0" marL="0">
              <a:buNone/>
            </a:pPr>
            <a:r>
              <a:rPr lang="en-US" sz="1400" b="1" dirty="0">
                <a:solidFill>
                  <a:schemeClr val="accent1"/>
                </a:solidFill>
              </a:rPr>
              <a:t>Visited / Unvisited</a:t>
            </a:r>
            <a:endParaRPr lang="en-US" sz="1400" dirty="0"/>
          </a:p>
        </p:txBody>
      </p:sp>
      <p:sp>
        <p:nvSpPr>
          <p:cNvPr id="56" name="Text 53"/>
          <p:cNvSpPr txBox="1"/>
          <p:nvPr/>
        </p:nvSpPr>
        <p:spPr>
          <a:xfrm>
            <a:off x="5623560" y="4288536"/>
            <a:ext cx="3017520" cy="237744"/>
          </a:xfrm>
          <a:prstGeom prst="rect">
            <a:avLst/>
          </a:prstGeom>
          <a:noFill/>
          <a:ln/>
        </p:spPr>
        <p:txBody>
          <a:bodyPr wrap="square" lIns="0" tIns="0" rIns="0" bIns="0" rtlCol="0" anchor="t"/>
          <a:lstStyle/>
          <a:p>
            <a:pPr indent="0" marL="0">
              <a:buNone/>
            </a:pPr>
            <a:r>
              <a:rPr lang="en-US" sz="1300" dirty="0">
                <a:solidFill>
                  <a:schemeClr val="tx1"/>
                </a:solidFill>
              </a:rPr>
              <a:t>Visited: distance is final</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Working Principle</a:t>
            </a:r>
            <a:endParaRPr lang="en-US" sz="3200" dirty="0"/>
          </a:p>
        </p:txBody>
      </p:sp>
      <p:sp>
        <p:nvSpPr>
          <p:cNvPr id="4" name="Shape 1"/>
          <p:cNvSpPr/>
          <p:nvPr/>
        </p:nvSpPr>
        <p:spPr>
          <a:xfrm>
            <a:off x="457200" y="1188720"/>
            <a:ext cx="2377440" cy="3291840"/>
          </a:xfrm>
          <a:prstGeom prst="roundRect">
            <a:avLst>
              <a:gd name="adj" fmla="val 4615"/>
            </a:avLst>
          </a:prstGeom>
          <a:solidFill>
            <a:srgbClr val="EAF2FF"/>
          </a:solidFill>
          <a:ln/>
        </p:spPr>
      </p:sp>
      <p:sp>
        <p:nvSpPr>
          <p:cNvPr id="5" name="Text 2"/>
          <p:cNvSpPr txBox="1"/>
          <p:nvPr/>
        </p:nvSpPr>
        <p:spPr>
          <a:xfrm>
            <a:off x="640080" y="1325880"/>
            <a:ext cx="2011680" cy="274320"/>
          </a:xfrm>
          <a:prstGeom prst="rect">
            <a:avLst/>
          </a:prstGeom>
          <a:noFill/>
          <a:ln/>
        </p:spPr>
        <p:txBody>
          <a:bodyPr wrap="square" lIns="0" tIns="0" rIns="0" bIns="0" rtlCol="0" anchor="t"/>
          <a:lstStyle/>
          <a:p>
            <a:pPr indent="0" marL="0">
              <a:buNone/>
            </a:pPr>
            <a:r>
              <a:rPr lang="en-US" sz="1400" b="1" dirty="0">
                <a:solidFill>
                  <a:schemeClr val="accent1"/>
                </a:solidFill>
              </a:rPr>
              <a:t>INITIALIZE</a:t>
            </a:r>
            <a:endParaRPr lang="en-US" sz="1400" dirty="0"/>
          </a:p>
        </p:txBody>
      </p:sp>
      <p:sp>
        <p:nvSpPr>
          <p:cNvPr id="6" name="Shape 3"/>
          <p:cNvSpPr/>
          <p:nvPr/>
        </p:nvSpPr>
        <p:spPr>
          <a:xfrm>
            <a:off x="640080" y="1828800"/>
            <a:ext cx="2011680" cy="1005840"/>
          </a:xfrm>
          <a:prstGeom prst="roundRect">
            <a:avLst>
              <a:gd name="adj" fmla="val 10909"/>
            </a:avLst>
          </a:prstGeom>
          <a:solidFill>
            <a:schemeClr val="bg1"/>
          </a:solidFill>
          <a:ln/>
        </p:spPr>
      </p:sp>
      <p:sp>
        <p:nvSpPr>
          <p:cNvPr id="7" name="Text 4"/>
          <p:cNvSpPr txBox="1"/>
          <p:nvPr/>
        </p:nvSpPr>
        <p:spPr>
          <a:xfrm>
            <a:off x="731520" y="1938528"/>
            <a:ext cx="365760" cy="36576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731520" y="2359152"/>
            <a:ext cx="1828800" cy="457200"/>
          </a:xfrm>
          <a:prstGeom prst="rect">
            <a:avLst/>
          </a:prstGeom>
          <a:noFill/>
          <a:ln/>
        </p:spPr>
        <p:txBody>
          <a:bodyPr wrap="square" lIns="0" tIns="0" rIns="0" bIns="0" rtlCol="0" anchor="t"/>
          <a:lstStyle/>
          <a:p>
            <a:pPr indent="0" marL="0">
              <a:buNone/>
            </a:pPr>
            <a:r>
              <a:rPr lang="en-US" sz="1400" dirty="0">
                <a:solidFill>
                  <a:schemeClr val="tx1"/>
                </a:solidFill>
              </a:rPr>
              <a:t>Set source distance to 0</a:t>
            </a:r>
            <a:endParaRPr lang="en-US" sz="1400" dirty="0"/>
          </a:p>
        </p:txBody>
      </p:sp>
      <p:sp>
        <p:nvSpPr>
          <p:cNvPr id="9" name="Shape 6"/>
          <p:cNvSpPr/>
          <p:nvPr/>
        </p:nvSpPr>
        <p:spPr>
          <a:xfrm>
            <a:off x="640080" y="3108960"/>
            <a:ext cx="2011680" cy="1005840"/>
          </a:xfrm>
          <a:prstGeom prst="roundRect">
            <a:avLst>
              <a:gd name="adj" fmla="val 10909"/>
            </a:avLst>
          </a:prstGeom>
          <a:solidFill>
            <a:schemeClr val="bg1"/>
          </a:solidFill>
          <a:ln/>
        </p:spPr>
      </p:sp>
      <p:sp>
        <p:nvSpPr>
          <p:cNvPr id="10" name="Text 7"/>
          <p:cNvSpPr txBox="1"/>
          <p:nvPr/>
        </p:nvSpPr>
        <p:spPr>
          <a:xfrm>
            <a:off x="731520" y="3218688"/>
            <a:ext cx="365760" cy="36576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731520" y="3639312"/>
            <a:ext cx="1828800" cy="457200"/>
          </a:xfrm>
          <a:prstGeom prst="rect">
            <a:avLst/>
          </a:prstGeom>
          <a:noFill/>
          <a:ln/>
        </p:spPr>
        <p:txBody>
          <a:bodyPr wrap="square" lIns="0" tIns="0" rIns="0" bIns="0" rtlCol="0" anchor="t"/>
          <a:lstStyle/>
          <a:p>
            <a:pPr indent="0" marL="0">
              <a:buNone/>
            </a:pPr>
            <a:r>
              <a:rPr lang="en-US" sz="1400" dirty="0">
                <a:solidFill>
                  <a:schemeClr val="tx1"/>
                </a:solidFill>
              </a:rPr>
              <a:t>Set all other distances to ∞</a:t>
            </a:r>
            <a:endParaRPr lang="en-US" sz="1400" dirty="0"/>
          </a:p>
        </p:txBody>
      </p:sp>
      <p:sp>
        <p:nvSpPr>
          <p:cNvPr id="12" name="Shape 9"/>
          <p:cNvSpPr/>
          <p:nvPr/>
        </p:nvSpPr>
        <p:spPr>
          <a:xfrm>
            <a:off x="3246120" y="1188720"/>
            <a:ext cx="2834640" cy="3291840"/>
          </a:xfrm>
          <a:prstGeom prst="roundRect">
            <a:avLst>
              <a:gd name="adj" fmla="val 3871"/>
            </a:avLst>
          </a:prstGeom>
          <a:solidFill>
            <a:srgbClr val="EAF2FF"/>
          </a:solidFill>
          <a:ln/>
        </p:spPr>
      </p:sp>
      <p:sp>
        <p:nvSpPr>
          <p:cNvPr id="13" name="Text 10"/>
          <p:cNvSpPr txBox="1"/>
          <p:nvPr/>
        </p:nvSpPr>
        <p:spPr>
          <a:xfrm>
            <a:off x="3429000" y="1325880"/>
            <a:ext cx="2468880" cy="274320"/>
          </a:xfrm>
          <a:prstGeom prst="rect">
            <a:avLst/>
          </a:prstGeom>
          <a:noFill/>
          <a:ln/>
        </p:spPr>
        <p:txBody>
          <a:bodyPr wrap="square" lIns="0" tIns="0" rIns="0" bIns="0" rtlCol="0" anchor="t"/>
          <a:lstStyle/>
          <a:p>
            <a:pPr indent="0" marL="0">
              <a:buNone/>
            </a:pPr>
            <a:r>
              <a:rPr lang="en-US" sz="1400" b="1" dirty="0">
                <a:solidFill>
                  <a:schemeClr val="accent1"/>
                </a:solidFill>
              </a:rPr>
              <a:t>REPEAT  ↻</a:t>
            </a:r>
            <a:endParaRPr lang="en-US" sz="1400" dirty="0"/>
          </a:p>
        </p:txBody>
      </p:sp>
      <p:sp>
        <p:nvSpPr>
          <p:cNvPr id="14" name="Shape 11"/>
          <p:cNvSpPr/>
          <p:nvPr/>
        </p:nvSpPr>
        <p:spPr>
          <a:xfrm>
            <a:off x="3429000" y="1783080"/>
            <a:ext cx="2468880" cy="731520"/>
          </a:xfrm>
          <a:prstGeom prst="roundRect">
            <a:avLst>
              <a:gd name="adj" fmla="val 15000"/>
            </a:avLst>
          </a:prstGeom>
          <a:solidFill>
            <a:schemeClr val="bg1"/>
          </a:solidFill>
          <a:ln/>
        </p:spPr>
      </p:sp>
      <p:sp>
        <p:nvSpPr>
          <p:cNvPr id="15" name="Text 12"/>
          <p:cNvSpPr txBox="1"/>
          <p:nvPr/>
        </p:nvSpPr>
        <p:spPr>
          <a:xfrm>
            <a:off x="3520440" y="1965960"/>
            <a:ext cx="365760" cy="36576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4023360" y="1783080"/>
            <a:ext cx="1783080" cy="731520"/>
          </a:xfrm>
          <a:prstGeom prst="rect">
            <a:avLst/>
          </a:prstGeom>
          <a:noFill/>
          <a:ln/>
        </p:spPr>
        <p:txBody>
          <a:bodyPr wrap="square" lIns="0" tIns="0" rIns="0" bIns="0" rtlCol="0" anchor="ctr"/>
          <a:lstStyle/>
          <a:p>
            <a:pPr indent="0" marL="0">
              <a:buNone/>
            </a:pPr>
            <a:r>
              <a:rPr lang="en-US" sz="1300" dirty="0">
                <a:solidFill>
                  <a:schemeClr val="tx1"/>
                </a:solidFill>
              </a:rPr>
              <a:t>Pick unvisited vertex u with smallest d[u]</a:t>
            </a:r>
            <a:endParaRPr lang="en-US" sz="1300" dirty="0"/>
          </a:p>
        </p:txBody>
      </p:sp>
      <p:sp>
        <p:nvSpPr>
          <p:cNvPr id="17" name="Shape 14"/>
          <p:cNvSpPr/>
          <p:nvPr/>
        </p:nvSpPr>
        <p:spPr>
          <a:xfrm>
            <a:off x="4663440" y="2514600"/>
            <a:ext cx="0" cy="182880"/>
          </a:xfrm>
          <a:prstGeom prst="line">
            <a:avLst/>
          </a:prstGeom>
          <a:noFill/>
          <a:ln w="31750">
            <a:solidFill>
              <a:schemeClr val="accent1"/>
            </a:solidFill>
            <a:prstDash val="solid"/>
            <a:tailEnd type="triangle"/>
          </a:ln>
        </p:spPr>
      </p:sp>
      <p:sp>
        <p:nvSpPr>
          <p:cNvPr id="18" name="Shape 15"/>
          <p:cNvSpPr/>
          <p:nvPr/>
        </p:nvSpPr>
        <p:spPr>
          <a:xfrm>
            <a:off x="3429000" y="2697480"/>
            <a:ext cx="2468880" cy="731520"/>
          </a:xfrm>
          <a:prstGeom prst="roundRect">
            <a:avLst>
              <a:gd name="adj" fmla="val 15000"/>
            </a:avLst>
          </a:prstGeom>
          <a:solidFill>
            <a:schemeClr val="bg1"/>
          </a:solidFill>
          <a:ln/>
        </p:spPr>
      </p:sp>
      <p:sp>
        <p:nvSpPr>
          <p:cNvPr id="19" name="Text 16"/>
          <p:cNvSpPr txBox="1"/>
          <p:nvPr/>
        </p:nvSpPr>
        <p:spPr>
          <a:xfrm>
            <a:off x="3520440" y="2880360"/>
            <a:ext cx="365760" cy="36576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 17"/>
          <p:cNvSpPr txBox="1"/>
          <p:nvPr/>
        </p:nvSpPr>
        <p:spPr>
          <a:xfrm>
            <a:off x="4023360" y="2697480"/>
            <a:ext cx="1783080" cy="731520"/>
          </a:xfrm>
          <a:prstGeom prst="rect">
            <a:avLst/>
          </a:prstGeom>
          <a:noFill/>
          <a:ln/>
        </p:spPr>
        <p:txBody>
          <a:bodyPr wrap="square" lIns="0" tIns="0" rIns="0" bIns="0" rtlCol="0" anchor="ctr"/>
          <a:lstStyle/>
          <a:p>
            <a:pPr indent="0" marL="0">
              <a:buNone/>
            </a:pPr>
            <a:r>
              <a:rPr lang="en-US" sz="1300" dirty="0">
                <a:solidFill>
                  <a:schemeClr val="tx1"/>
                </a:solidFill>
              </a:rPr>
              <a:t>Update neighbours v if d[u] + w(u,v) &lt; d[v]</a:t>
            </a:r>
            <a:endParaRPr lang="en-US" sz="1300" dirty="0"/>
          </a:p>
        </p:txBody>
      </p:sp>
      <p:sp>
        <p:nvSpPr>
          <p:cNvPr id="21" name="Shape 18"/>
          <p:cNvSpPr/>
          <p:nvPr/>
        </p:nvSpPr>
        <p:spPr>
          <a:xfrm>
            <a:off x="4663440" y="3429000"/>
            <a:ext cx="0" cy="182880"/>
          </a:xfrm>
          <a:prstGeom prst="line">
            <a:avLst/>
          </a:prstGeom>
          <a:noFill/>
          <a:ln w="31750">
            <a:solidFill>
              <a:schemeClr val="accent1"/>
            </a:solidFill>
            <a:prstDash val="solid"/>
            <a:tailEnd type="triangle"/>
          </a:ln>
        </p:spPr>
      </p:sp>
      <p:sp>
        <p:nvSpPr>
          <p:cNvPr id="22" name="Shape 19"/>
          <p:cNvSpPr/>
          <p:nvPr/>
        </p:nvSpPr>
        <p:spPr>
          <a:xfrm>
            <a:off x="3429000" y="3611880"/>
            <a:ext cx="2468880" cy="731520"/>
          </a:xfrm>
          <a:prstGeom prst="roundRect">
            <a:avLst>
              <a:gd name="adj" fmla="val 15000"/>
            </a:avLst>
          </a:prstGeom>
          <a:solidFill>
            <a:schemeClr val="bg1"/>
          </a:solidFill>
          <a:ln/>
        </p:spPr>
      </p:sp>
      <p:sp>
        <p:nvSpPr>
          <p:cNvPr id="23" name="Text 20"/>
          <p:cNvSpPr txBox="1"/>
          <p:nvPr/>
        </p:nvSpPr>
        <p:spPr>
          <a:xfrm>
            <a:off x="3520440" y="3794760"/>
            <a:ext cx="365760" cy="36576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4" name="Text 21"/>
          <p:cNvSpPr txBox="1"/>
          <p:nvPr/>
        </p:nvSpPr>
        <p:spPr>
          <a:xfrm>
            <a:off x="4023360" y="3611880"/>
            <a:ext cx="1783080" cy="731520"/>
          </a:xfrm>
          <a:prstGeom prst="rect">
            <a:avLst/>
          </a:prstGeom>
          <a:noFill/>
          <a:ln/>
        </p:spPr>
        <p:txBody>
          <a:bodyPr wrap="square" lIns="0" tIns="0" rIns="0" bIns="0" rtlCol="0" anchor="ctr"/>
          <a:lstStyle/>
          <a:p>
            <a:pPr indent="0" marL="0">
              <a:buNone/>
            </a:pPr>
            <a:r>
              <a:rPr lang="en-US" sz="1300" dirty="0">
                <a:solidFill>
                  <a:schemeClr val="tx1"/>
                </a:solidFill>
              </a:rPr>
              <a:t>Mark u as visited (distance final)</a:t>
            </a:r>
            <a:endParaRPr lang="en-US" sz="1300" dirty="0"/>
          </a:p>
        </p:txBody>
      </p:sp>
      <p:sp>
        <p:nvSpPr>
          <p:cNvPr id="25" name="Shape 22"/>
          <p:cNvSpPr/>
          <p:nvPr/>
        </p:nvSpPr>
        <p:spPr>
          <a:xfrm>
            <a:off x="6492240" y="1188720"/>
            <a:ext cx="2194560" cy="3291840"/>
          </a:xfrm>
          <a:prstGeom prst="roundRect">
            <a:avLst>
              <a:gd name="adj" fmla="val 5000"/>
            </a:avLst>
          </a:prstGeom>
          <a:solidFill>
            <a:srgbClr val="0B1B3A"/>
          </a:solidFill>
          <a:ln/>
        </p:spPr>
      </p:sp>
      <p:sp>
        <p:nvSpPr>
          <p:cNvPr id="26" name="Text 23"/>
          <p:cNvSpPr txBox="1"/>
          <p:nvPr/>
        </p:nvSpPr>
        <p:spPr>
          <a:xfrm>
            <a:off x="6675120" y="1325880"/>
            <a:ext cx="1828800" cy="274320"/>
          </a:xfrm>
          <a:prstGeom prst="rect">
            <a:avLst/>
          </a:prstGeom>
          <a:noFill/>
          <a:ln/>
        </p:spPr>
        <p:txBody>
          <a:bodyPr wrap="square" lIns="0" tIns="0" rIns="0" bIns="0" rtlCol="0" anchor="t"/>
          <a:lstStyle/>
          <a:p>
            <a:pPr indent="0" marL="0">
              <a:buNone/>
            </a:pPr>
            <a:r>
              <a:rPr lang="en-US" sz="1400" b="1" dirty="0">
                <a:solidFill>
                  <a:schemeClr val="accent2"/>
                </a:solidFill>
              </a:rPr>
              <a:t>FINISH</a:t>
            </a:r>
            <a:endParaRPr lang="en-US" sz="1400" dirty="0"/>
          </a:p>
        </p:txBody>
      </p:sp>
      <p:sp>
        <p:nvSpPr>
          <p:cNvPr id="27" name="Text 24"/>
          <p:cNvSpPr txBox="1"/>
          <p:nvPr/>
        </p:nvSpPr>
        <p:spPr>
          <a:xfrm>
            <a:off x="6675120" y="1828800"/>
            <a:ext cx="365760" cy="36576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8" name="Text 25"/>
          <p:cNvSpPr txBox="1"/>
          <p:nvPr/>
        </p:nvSpPr>
        <p:spPr>
          <a:xfrm>
            <a:off x="6675120" y="2377440"/>
            <a:ext cx="1828800" cy="1097280"/>
          </a:xfrm>
          <a:prstGeom prst="rect">
            <a:avLst/>
          </a:prstGeom>
          <a:noFill/>
          <a:ln/>
        </p:spPr>
        <p:txBody>
          <a:bodyPr wrap="square" lIns="0" tIns="0" rIns="0" bIns="0" rtlCol="0" anchor="t"/>
          <a:lstStyle/>
          <a:p>
            <a:pPr indent="0" marL="0">
              <a:buNone/>
            </a:pPr>
            <a:r>
              <a:rPr lang="en-US" sz="1400" dirty="0">
                <a:solidFill>
                  <a:schemeClr val="bg1"/>
                </a:solidFill>
              </a:rPr>
              <a:t>Repeat steps 3–5 until all required shortest distances are finalized.</a:t>
            </a:r>
            <a:endParaRPr lang="en-US" sz="1400" dirty="0"/>
          </a:p>
        </p:txBody>
      </p:sp>
      <p:sp>
        <p:nvSpPr>
          <p:cNvPr id="29" name="Text 26"/>
          <p:cNvSpPr txBox="1"/>
          <p:nvPr/>
        </p:nvSpPr>
        <p:spPr>
          <a:xfrm>
            <a:off x="6675120" y="3749040"/>
            <a:ext cx="1828800" cy="457200"/>
          </a:xfrm>
          <a:prstGeom prst="rect">
            <a:avLst/>
          </a:prstGeom>
          <a:noFill/>
          <a:ln/>
        </p:spPr>
        <p:txBody>
          <a:bodyPr wrap="square" lIns="0" tIns="0" rIns="0" bIns="0" rtlCol="0" anchor="t"/>
          <a:lstStyle/>
          <a:p>
            <a:pPr indent="0" marL="0">
              <a:buNone/>
            </a:pPr>
            <a:r>
              <a:rPr lang="en-US" sz="1300" b="1" dirty="0">
                <a:solidFill>
                  <a:schemeClr val="accent2"/>
                </a:solidFill>
              </a:rPr>
              <a:t>Result: dist[ ] and prev[ ]</a:t>
            </a:r>
            <a:endParaRPr lang="en-US" sz="1300" dirty="0"/>
          </a:p>
        </p:txBody>
      </p:sp>
      <p:sp>
        <p:nvSpPr>
          <p:cNvPr id="30" name="Shape 27"/>
          <p:cNvSpPr/>
          <p:nvPr/>
        </p:nvSpPr>
        <p:spPr>
          <a:xfrm>
            <a:off x="2852928" y="2834640"/>
            <a:ext cx="374904" cy="0"/>
          </a:xfrm>
          <a:prstGeom prst="line">
            <a:avLst/>
          </a:prstGeom>
          <a:noFill/>
          <a:ln w="31750">
            <a:solidFill>
              <a:schemeClr val="accent1"/>
            </a:solidFill>
            <a:prstDash val="solid"/>
            <a:tailEnd type="triangle"/>
          </a:ln>
        </p:spPr>
      </p:sp>
      <p:sp>
        <p:nvSpPr>
          <p:cNvPr id="31" name="Shape 28"/>
          <p:cNvSpPr/>
          <p:nvPr/>
        </p:nvSpPr>
        <p:spPr>
          <a:xfrm>
            <a:off x="6099048" y="2834640"/>
            <a:ext cx="374904" cy="0"/>
          </a:xfrm>
          <a:prstGeom prst="line">
            <a:avLst/>
          </a:prstGeom>
          <a:noFill/>
          <a:ln w="31750">
            <a:solidFill>
              <a:schemeClr val="accent1"/>
            </a:solidFill>
            <a:prstDash val="solid"/>
            <a:tailEnd type="triangle"/>
          </a:ln>
        </p:spPr>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Numerical Example</a:t>
            </a:r>
            <a:endParaRPr lang="en-US" sz="3200" dirty="0"/>
          </a:p>
        </p:txBody>
      </p:sp>
      <p:sp>
        <p:nvSpPr>
          <p:cNvPr id="4" name="Shape 1"/>
          <p:cNvSpPr/>
          <p:nvPr/>
        </p:nvSpPr>
        <p:spPr>
          <a:xfrm flipV="1">
            <a:off x="5989320" y="228600"/>
            <a:ext cx="822960" cy="603504"/>
          </a:xfrm>
          <a:prstGeom prst="line">
            <a:avLst/>
          </a:prstGeom>
          <a:noFill/>
          <a:ln w="19050">
            <a:solidFill>
              <a:srgbClr val="B8C4D8"/>
            </a:solidFill>
            <a:prstDash val="solid"/>
          </a:ln>
        </p:spPr>
      </p:sp>
      <p:sp>
        <p:nvSpPr>
          <p:cNvPr id="5" name="Shape 2"/>
          <p:cNvSpPr/>
          <p:nvPr/>
        </p:nvSpPr>
        <p:spPr>
          <a:xfrm>
            <a:off x="5989320" y="832104"/>
            <a:ext cx="822960" cy="603504"/>
          </a:xfrm>
          <a:prstGeom prst="line">
            <a:avLst/>
          </a:prstGeom>
          <a:noFill/>
          <a:ln w="19050">
            <a:solidFill>
              <a:srgbClr val="B8C4D8"/>
            </a:solidFill>
            <a:prstDash val="solid"/>
          </a:ln>
        </p:spPr>
      </p:sp>
      <p:sp>
        <p:nvSpPr>
          <p:cNvPr id="6" name="Shape 3"/>
          <p:cNvSpPr/>
          <p:nvPr/>
        </p:nvSpPr>
        <p:spPr>
          <a:xfrm>
            <a:off x="6812280" y="228600"/>
            <a:ext cx="0" cy="1207008"/>
          </a:xfrm>
          <a:prstGeom prst="line">
            <a:avLst/>
          </a:prstGeom>
          <a:noFill/>
          <a:ln w="19050">
            <a:solidFill>
              <a:srgbClr val="B8C4D8"/>
            </a:solidFill>
            <a:prstDash val="solid"/>
          </a:ln>
        </p:spPr>
      </p:sp>
      <p:sp>
        <p:nvSpPr>
          <p:cNvPr id="7" name="Shape 4"/>
          <p:cNvSpPr/>
          <p:nvPr/>
        </p:nvSpPr>
        <p:spPr>
          <a:xfrm>
            <a:off x="6812280" y="228600"/>
            <a:ext cx="987552" cy="0"/>
          </a:xfrm>
          <a:prstGeom prst="line">
            <a:avLst/>
          </a:prstGeom>
          <a:noFill/>
          <a:ln w="19050">
            <a:solidFill>
              <a:srgbClr val="B8C4D8"/>
            </a:solidFill>
            <a:prstDash val="solid"/>
          </a:ln>
        </p:spPr>
      </p:sp>
      <p:sp>
        <p:nvSpPr>
          <p:cNvPr id="8" name="Shape 5"/>
          <p:cNvSpPr/>
          <p:nvPr/>
        </p:nvSpPr>
        <p:spPr>
          <a:xfrm flipV="1">
            <a:off x="6812280" y="228600"/>
            <a:ext cx="987552" cy="1207008"/>
          </a:xfrm>
          <a:prstGeom prst="line">
            <a:avLst/>
          </a:prstGeom>
          <a:noFill/>
          <a:ln w="19050">
            <a:solidFill>
              <a:srgbClr val="B8C4D8"/>
            </a:solidFill>
            <a:prstDash val="solid"/>
          </a:ln>
        </p:spPr>
      </p:sp>
      <p:sp>
        <p:nvSpPr>
          <p:cNvPr id="9" name="Shape 6"/>
          <p:cNvSpPr/>
          <p:nvPr/>
        </p:nvSpPr>
        <p:spPr>
          <a:xfrm>
            <a:off x="6812280" y="1435608"/>
            <a:ext cx="987552" cy="0"/>
          </a:xfrm>
          <a:prstGeom prst="line">
            <a:avLst/>
          </a:prstGeom>
          <a:noFill/>
          <a:ln w="19050">
            <a:solidFill>
              <a:srgbClr val="B8C4D8"/>
            </a:solidFill>
            <a:prstDash val="solid"/>
          </a:ln>
        </p:spPr>
      </p:sp>
      <p:sp>
        <p:nvSpPr>
          <p:cNvPr id="10" name="Shape 7"/>
          <p:cNvSpPr/>
          <p:nvPr/>
        </p:nvSpPr>
        <p:spPr>
          <a:xfrm>
            <a:off x="7799832" y="228600"/>
            <a:ext cx="0" cy="1207008"/>
          </a:xfrm>
          <a:prstGeom prst="line">
            <a:avLst/>
          </a:prstGeom>
          <a:noFill/>
          <a:ln w="19050">
            <a:solidFill>
              <a:srgbClr val="B8C4D8"/>
            </a:solidFill>
            <a:prstDash val="solid"/>
          </a:ln>
        </p:spPr>
      </p:sp>
      <p:sp>
        <p:nvSpPr>
          <p:cNvPr id="11" name="Shape 8"/>
          <p:cNvSpPr/>
          <p:nvPr/>
        </p:nvSpPr>
        <p:spPr>
          <a:xfrm>
            <a:off x="7799832" y="228600"/>
            <a:ext cx="822960" cy="603504"/>
          </a:xfrm>
          <a:prstGeom prst="line">
            <a:avLst/>
          </a:prstGeom>
          <a:noFill/>
          <a:ln w="19050">
            <a:solidFill>
              <a:srgbClr val="B8C4D8"/>
            </a:solidFill>
            <a:prstDash val="solid"/>
          </a:ln>
        </p:spPr>
      </p:sp>
      <p:sp>
        <p:nvSpPr>
          <p:cNvPr id="12" name="Shape 9"/>
          <p:cNvSpPr/>
          <p:nvPr/>
        </p:nvSpPr>
        <p:spPr>
          <a:xfrm flipV="1">
            <a:off x="7799832" y="832104"/>
            <a:ext cx="822960" cy="603504"/>
          </a:xfrm>
          <a:prstGeom prst="line">
            <a:avLst/>
          </a:prstGeom>
          <a:noFill/>
          <a:ln w="19050">
            <a:solidFill>
              <a:srgbClr val="B8C4D8"/>
            </a:solidFill>
            <a:prstDash val="solid"/>
          </a:ln>
        </p:spPr>
      </p:sp>
      <p:sp>
        <p:nvSpPr>
          <p:cNvPr id="13" name="Text 10"/>
          <p:cNvSpPr txBox="1"/>
          <p:nvPr/>
        </p:nvSpPr>
        <p:spPr>
          <a:xfrm>
            <a:off x="6291072" y="448056"/>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4</a:t>
            </a:r>
            <a:endParaRPr lang="en-US" sz="1000" dirty="0"/>
          </a:p>
        </p:txBody>
      </p:sp>
      <p:sp>
        <p:nvSpPr>
          <p:cNvPr id="14" name="Text 11"/>
          <p:cNvSpPr txBox="1"/>
          <p:nvPr/>
        </p:nvSpPr>
        <p:spPr>
          <a:xfrm>
            <a:off x="6291072" y="1051560"/>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2</a:t>
            </a:r>
            <a:endParaRPr lang="en-US" sz="1000" dirty="0"/>
          </a:p>
        </p:txBody>
      </p:sp>
      <p:sp>
        <p:nvSpPr>
          <p:cNvPr id="15" name="Text 12"/>
          <p:cNvSpPr txBox="1"/>
          <p:nvPr/>
        </p:nvSpPr>
        <p:spPr>
          <a:xfrm>
            <a:off x="6702552" y="749808"/>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1</a:t>
            </a:r>
            <a:endParaRPr lang="en-US" sz="1000" dirty="0"/>
          </a:p>
        </p:txBody>
      </p:sp>
      <p:sp>
        <p:nvSpPr>
          <p:cNvPr id="16" name="Text 13"/>
          <p:cNvSpPr txBox="1"/>
          <p:nvPr/>
        </p:nvSpPr>
        <p:spPr>
          <a:xfrm>
            <a:off x="7196328" y="146304"/>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5</a:t>
            </a:r>
            <a:endParaRPr lang="en-US" sz="1000" dirty="0"/>
          </a:p>
        </p:txBody>
      </p:sp>
      <p:sp>
        <p:nvSpPr>
          <p:cNvPr id="17" name="Text 14"/>
          <p:cNvSpPr txBox="1"/>
          <p:nvPr/>
        </p:nvSpPr>
        <p:spPr>
          <a:xfrm>
            <a:off x="7196328" y="749808"/>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8</a:t>
            </a:r>
            <a:endParaRPr lang="en-US" sz="1000" dirty="0"/>
          </a:p>
        </p:txBody>
      </p:sp>
      <p:sp>
        <p:nvSpPr>
          <p:cNvPr id="18" name="Text 15"/>
          <p:cNvSpPr txBox="1"/>
          <p:nvPr/>
        </p:nvSpPr>
        <p:spPr>
          <a:xfrm>
            <a:off x="7196328" y="1353312"/>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10</a:t>
            </a:r>
            <a:endParaRPr lang="en-US" sz="1000" dirty="0"/>
          </a:p>
        </p:txBody>
      </p:sp>
      <p:sp>
        <p:nvSpPr>
          <p:cNvPr id="19" name="Text 16"/>
          <p:cNvSpPr txBox="1"/>
          <p:nvPr/>
        </p:nvSpPr>
        <p:spPr>
          <a:xfrm>
            <a:off x="7690104" y="749808"/>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2</a:t>
            </a:r>
            <a:endParaRPr lang="en-US" sz="1000" dirty="0"/>
          </a:p>
        </p:txBody>
      </p:sp>
      <p:sp>
        <p:nvSpPr>
          <p:cNvPr id="20" name="Text 17"/>
          <p:cNvSpPr txBox="1"/>
          <p:nvPr/>
        </p:nvSpPr>
        <p:spPr>
          <a:xfrm>
            <a:off x="8101584" y="448056"/>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6</a:t>
            </a:r>
            <a:endParaRPr lang="en-US" sz="1000" dirty="0"/>
          </a:p>
        </p:txBody>
      </p:sp>
      <p:sp>
        <p:nvSpPr>
          <p:cNvPr id="21" name="Text 18"/>
          <p:cNvSpPr txBox="1"/>
          <p:nvPr/>
        </p:nvSpPr>
        <p:spPr>
          <a:xfrm>
            <a:off x="8101584" y="1051560"/>
            <a:ext cx="219456" cy="164592"/>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6"/>
                </a:solidFill>
              </a:rPr>
              <a:t>3</a:t>
            </a:r>
            <a:endParaRPr lang="en-US" sz="1000" dirty="0"/>
          </a:p>
        </p:txBody>
      </p:sp>
      <p:sp>
        <p:nvSpPr>
          <p:cNvPr id="22" name="Text 19"/>
          <p:cNvSpPr txBox="1"/>
          <p:nvPr/>
        </p:nvSpPr>
        <p:spPr>
          <a:xfrm>
            <a:off x="5852160" y="694944"/>
            <a:ext cx="274320" cy="274320"/>
          </a:xfrm>
          <a:prstGeom prst="ellipse">
            <a:avLst/>
          </a:prstGeom>
          <a:solidFill>
            <a:schemeClr val="accent4"/>
          </a:solidFill>
          <a:ln w="25400">
            <a:solidFill>
              <a:schemeClr val="accent4"/>
            </a:solidFill>
          </a:ln>
        </p:spPr>
        <p:txBody>
          <a:bodyPr wrap="square" lIns="0" tIns="0" rIns="0" bIns="0" rtlCol="0" anchor="ctr"/>
          <a:lstStyle/>
          <a:p>
            <a:pPr algn="ctr" indent="0" marL="0">
              <a:buNone/>
            </a:pPr>
            <a:r>
              <a:rPr lang="en-US" sz="1000" b="1" dirty="0">
                <a:solidFill>
                  <a:schemeClr val="bg1"/>
                </a:solidFill>
              </a:rPr>
              <a:t>A</a:t>
            </a:r>
            <a:endParaRPr lang="en-US" sz="1000" dirty="0"/>
          </a:p>
        </p:txBody>
      </p:sp>
      <p:sp>
        <p:nvSpPr>
          <p:cNvPr id="23" name="Text 20"/>
          <p:cNvSpPr txBox="1"/>
          <p:nvPr/>
        </p:nvSpPr>
        <p:spPr>
          <a:xfrm>
            <a:off x="6675120" y="91440"/>
            <a:ext cx="274320" cy="274320"/>
          </a:xfrm>
          <a:prstGeom prst="ellipse">
            <a:avLst/>
          </a:prstGeom>
          <a:solidFill>
            <a:schemeClr val="bg1"/>
          </a:solidFill>
          <a:ln w="25400">
            <a:solidFill>
              <a:schemeClr val="accent1"/>
            </a:solidFill>
          </a:ln>
        </p:spPr>
        <p:txBody>
          <a:bodyPr wrap="square" lIns="0" tIns="0" rIns="0" bIns="0" rtlCol="0" anchor="ctr"/>
          <a:lstStyle/>
          <a:p>
            <a:pPr algn="ctr" indent="0" marL="0">
              <a:buNone/>
            </a:pPr>
            <a:r>
              <a:rPr lang="en-US" sz="1000" b="1" dirty="0">
                <a:solidFill>
                  <a:schemeClr val="tx1"/>
                </a:solidFill>
              </a:rPr>
              <a:t>B</a:t>
            </a:r>
            <a:endParaRPr lang="en-US" sz="1000" dirty="0"/>
          </a:p>
        </p:txBody>
      </p:sp>
      <p:sp>
        <p:nvSpPr>
          <p:cNvPr id="24" name="Text 21"/>
          <p:cNvSpPr txBox="1"/>
          <p:nvPr/>
        </p:nvSpPr>
        <p:spPr>
          <a:xfrm>
            <a:off x="6675120" y="1298448"/>
            <a:ext cx="274320" cy="274320"/>
          </a:xfrm>
          <a:prstGeom prst="ellipse">
            <a:avLst/>
          </a:prstGeom>
          <a:solidFill>
            <a:schemeClr val="bg1"/>
          </a:solidFill>
          <a:ln w="25400">
            <a:solidFill>
              <a:schemeClr val="accent1"/>
            </a:solidFill>
          </a:ln>
        </p:spPr>
        <p:txBody>
          <a:bodyPr wrap="square" lIns="0" tIns="0" rIns="0" bIns="0" rtlCol="0" anchor="ctr"/>
          <a:lstStyle/>
          <a:p>
            <a:pPr algn="ctr" indent="0" marL="0">
              <a:buNone/>
            </a:pPr>
            <a:r>
              <a:rPr lang="en-US" sz="1000" b="1" dirty="0">
                <a:solidFill>
                  <a:schemeClr val="tx1"/>
                </a:solidFill>
              </a:rPr>
              <a:t>C</a:t>
            </a:r>
            <a:endParaRPr lang="en-US" sz="1000" dirty="0"/>
          </a:p>
        </p:txBody>
      </p:sp>
      <p:sp>
        <p:nvSpPr>
          <p:cNvPr id="25" name="Text 22"/>
          <p:cNvSpPr txBox="1"/>
          <p:nvPr/>
        </p:nvSpPr>
        <p:spPr>
          <a:xfrm>
            <a:off x="7662672" y="91440"/>
            <a:ext cx="274320" cy="274320"/>
          </a:xfrm>
          <a:prstGeom prst="ellipse">
            <a:avLst/>
          </a:prstGeom>
          <a:solidFill>
            <a:schemeClr val="bg1"/>
          </a:solidFill>
          <a:ln w="25400">
            <a:solidFill>
              <a:schemeClr val="accent1"/>
            </a:solidFill>
          </a:ln>
        </p:spPr>
        <p:txBody>
          <a:bodyPr wrap="square" lIns="0" tIns="0" rIns="0" bIns="0" rtlCol="0" anchor="ctr"/>
          <a:lstStyle/>
          <a:p>
            <a:pPr algn="ctr" indent="0" marL="0">
              <a:buNone/>
            </a:pPr>
            <a:r>
              <a:rPr lang="en-US" sz="1000" b="1" dirty="0">
                <a:solidFill>
                  <a:schemeClr val="tx1"/>
                </a:solidFill>
              </a:rPr>
              <a:t>D</a:t>
            </a:r>
            <a:endParaRPr lang="en-US" sz="1000" dirty="0"/>
          </a:p>
        </p:txBody>
      </p:sp>
      <p:sp>
        <p:nvSpPr>
          <p:cNvPr id="26" name="Text 23"/>
          <p:cNvSpPr txBox="1"/>
          <p:nvPr/>
        </p:nvSpPr>
        <p:spPr>
          <a:xfrm>
            <a:off x="7662672" y="1298448"/>
            <a:ext cx="274320" cy="274320"/>
          </a:xfrm>
          <a:prstGeom prst="ellipse">
            <a:avLst/>
          </a:prstGeom>
          <a:solidFill>
            <a:schemeClr val="bg1"/>
          </a:solidFill>
          <a:ln w="25400">
            <a:solidFill>
              <a:schemeClr val="accent1"/>
            </a:solidFill>
          </a:ln>
        </p:spPr>
        <p:txBody>
          <a:bodyPr wrap="square" lIns="0" tIns="0" rIns="0" bIns="0" rtlCol="0" anchor="ctr"/>
          <a:lstStyle/>
          <a:p>
            <a:pPr algn="ctr" indent="0" marL="0">
              <a:buNone/>
            </a:pPr>
            <a:r>
              <a:rPr lang="en-US" sz="1000" b="1" dirty="0">
                <a:solidFill>
                  <a:schemeClr val="tx1"/>
                </a:solidFill>
              </a:rPr>
              <a:t>E</a:t>
            </a:r>
            <a:endParaRPr lang="en-US" sz="1000" dirty="0"/>
          </a:p>
        </p:txBody>
      </p:sp>
      <p:sp>
        <p:nvSpPr>
          <p:cNvPr id="27" name="Text 24"/>
          <p:cNvSpPr txBox="1"/>
          <p:nvPr/>
        </p:nvSpPr>
        <p:spPr>
          <a:xfrm>
            <a:off x="8485632" y="694944"/>
            <a:ext cx="274320" cy="274320"/>
          </a:xfrm>
          <a:prstGeom prst="ellipse">
            <a:avLst/>
          </a:prstGeom>
          <a:solidFill>
            <a:schemeClr val="bg1"/>
          </a:solidFill>
          <a:ln w="25400">
            <a:solidFill>
              <a:schemeClr val="accent1"/>
            </a:solidFill>
          </a:ln>
        </p:spPr>
        <p:txBody>
          <a:bodyPr wrap="square" lIns="0" tIns="0" rIns="0" bIns="0" rtlCol="0" anchor="ctr"/>
          <a:lstStyle/>
          <a:p>
            <a:pPr algn="ctr" indent="0" marL="0">
              <a:buNone/>
            </a:pPr>
            <a:r>
              <a:rPr lang="en-US" sz="1000" b="1" dirty="0">
                <a:solidFill>
                  <a:schemeClr val="tx1"/>
                </a:solidFill>
              </a:rPr>
              <a:t>F</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502920"/>
                <a:gridCol w="868680"/>
                <a:gridCol w="731520"/>
                <a:gridCol w="731520"/>
                <a:gridCol w="731520"/>
                <a:gridCol w="731520"/>
                <a:gridCol w="731520"/>
                <a:gridCol w="731520"/>
                <a:gridCol w="2468880"/>
              </a:tblGrid>
              <a:tr h="320040">
                <a:tc>
                  <a:txBody>
                    <a:bodyPr/>
                    <a:lstStyle/>
                    <a:p>
                      <a:pPr algn="ctr" indent="0" marL="0">
                        <a:buNone/>
                      </a:pPr>
                      <a:r>
                        <a:rPr lang="en-US" sz="1200" b="1" dirty="0">
                          <a:solidFill>
                            <a:srgbClr val="FFFFFF"/>
                          </a:solidFill>
                        </a:rPr>
                        <a:t>Iter</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Selected</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B</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D</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E</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F</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Updates</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r>
              <a:tr h="320040">
                <a:tc>
                  <a:txBody>
                    <a:bodyPr/>
                    <a:lstStyle/>
                    <a:p>
                      <a:pPr algn="ctr" indent="0" marL="0">
                        <a:buNone/>
                      </a:pPr>
                      <a:r>
                        <a:rPr lang="en-US" sz="1200" dirty="0">
                          <a:solidFill>
                            <a:srgbClr val="0B1B3A"/>
                          </a:solidFill>
                        </a:rPr>
                        <a:t>0</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b="1" dirty="0">
                          <a:solidFill>
                            <a:srgbClr val="0B1B3A"/>
                          </a:solidFill>
                        </a:rPr>
                        <a:t>—</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b="1" dirty="0">
                          <a:solidFill>
                            <a:srgbClr val="0B1B3A"/>
                          </a:solidFill>
                        </a:rPr>
                        <a:t>0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l" indent="0" marL="0">
                        <a:buNone/>
                      </a:pPr>
                      <a:r>
                        <a:rPr lang="en-US" sz="1200" dirty="0">
                          <a:solidFill>
                            <a:srgbClr val="0B1B3A"/>
                          </a:solidFill>
                        </a:rPr>
                        <a:t>d[A] = 0</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r>
              <a:tr h="320040">
                <a:tc>
                  <a:txBody>
                    <a:bodyPr/>
                    <a:lstStyle/>
                    <a:p>
                      <a:pPr algn="ctr" indent="0" marL="0">
                        <a:buNone/>
                      </a:pPr>
                      <a:r>
                        <a:rPr lang="en-US" sz="1200" dirty="0">
                          <a:solidFill>
                            <a:srgbClr val="0B1B3A"/>
                          </a:solidFill>
                        </a:rPr>
                        <a:t>1</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1B3A"/>
                          </a:solidFill>
                        </a:rPr>
                        <a:t>A (0)</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0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1B3A"/>
                          </a:solidFill>
                        </a:rPr>
                        <a:t>4 / 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b="1" dirty="0">
                          <a:solidFill>
                            <a:srgbClr val="0B1B3A"/>
                          </a:solidFill>
                        </a:rPr>
                        <a:t>2 / 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B1B3A"/>
                          </a:solidFill>
                        </a:rPr>
                        <a:t>B = 4, C = 2</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r>
              <a:tr h="320040">
                <a:tc>
                  <a:txBody>
                    <a:bodyPr/>
                    <a:lstStyle/>
                    <a:p>
                      <a:pPr algn="ctr" indent="0" marL="0">
                        <a:buNone/>
                      </a:pPr>
                      <a:r>
                        <a:rPr lang="en-US" sz="1200" dirty="0">
                          <a:solidFill>
                            <a:srgbClr val="0B1B3A"/>
                          </a:solidFill>
                        </a:rPr>
                        <a:t>2</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b="1" dirty="0">
                          <a:solidFill>
                            <a:srgbClr val="0B1B3A"/>
                          </a:solidFill>
                        </a:rPr>
                        <a:t>C (2)</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0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b="1" dirty="0">
                          <a:solidFill>
                            <a:srgbClr val="0B1B3A"/>
                          </a:solidFill>
                        </a:rPr>
                        <a:t>3 / 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dirty="0">
                          <a:solidFill>
                            <a:srgbClr val="0B1B3A"/>
                          </a:solidFill>
                        </a:rPr>
                        <a:t>2 / 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b="1" dirty="0">
                          <a:solidFill>
                            <a:srgbClr val="0B1B3A"/>
                          </a:solidFill>
                        </a:rPr>
                        <a:t>10 / 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b="1" dirty="0">
                          <a:solidFill>
                            <a:srgbClr val="0B1B3A"/>
                          </a:solidFill>
                        </a:rPr>
                        <a:t>12 / 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l" indent="0" marL="0">
                        <a:buNone/>
                      </a:pPr>
                      <a:r>
                        <a:rPr lang="en-US" sz="1200" dirty="0">
                          <a:solidFill>
                            <a:srgbClr val="0B1B3A"/>
                          </a:solidFill>
                        </a:rPr>
                        <a:t>B: 4→3, D = 10, E = 12</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r>
              <a:tr h="320040">
                <a:tc>
                  <a:txBody>
                    <a:bodyPr/>
                    <a:lstStyle/>
                    <a:p>
                      <a:pPr algn="ctr" indent="0" marL="0">
                        <a:buNone/>
                      </a:pPr>
                      <a:r>
                        <a:rPr lang="en-US" sz="1200" dirty="0">
                          <a:solidFill>
                            <a:srgbClr val="0B1B3A"/>
                          </a:solidFill>
                        </a:rPr>
                        <a:t>3</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1B3A"/>
                          </a:solidFill>
                        </a:rPr>
                        <a:t>B (3)</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0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3 / 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2 / 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1B3A"/>
                          </a:solidFill>
                        </a:rPr>
                        <a:t>8 / B</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dirty="0">
                          <a:solidFill>
                            <a:srgbClr val="0B1B3A"/>
                          </a:solidFill>
                        </a:rPr>
                        <a:t>12 / 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B1B3A"/>
                          </a:solidFill>
                        </a:rPr>
                        <a:t>D: 10→8</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r>
              <a:tr h="320040">
                <a:tc>
                  <a:txBody>
                    <a:bodyPr/>
                    <a:lstStyle/>
                    <a:p>
                      <a:pPr algn="ctr" indent="0" marL="0">
                        <a:buNone/>
                      </a:pPr>
                      <a:r>
                        <a:rPr lang="en-US" sz="1200" dirty="0">
                          <a:solidFill>
                            <a:srgbClr val="0B1B3A"/>
                          </a:solidFill>
                        </a:rPr>
                        <a:t>4</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b="1" dirty="0">
                          <a:solidFill>
                            <a:srgbClr val="0B1B3A"/>
                          </a:solidFill>
                        </a:rPr>
                        <a:t>D (8)</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0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3 / 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2 / 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8 / B</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b="1" dirty="0">
                          <a:solidFill>
                            <a:srgbClr val="0B1B3A"/>
                          </a:solidFill>
                        </a:rPr>
                        <a:t>10 / D</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b="1" dirty="0">
                          <a:solidFill>
                            <a:srgbClr val="0B1B3A"/>
                          </a:solidFill>
                        </a:rPr>
                        <a:t>14 / D</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l" indent="0" marL="0">
                        <a:buNone/>
                      </a:pPr>
                      <a:r>
                        <a:rPr lang="en-US" sz="1200" dirty="0">
                          <a:solidFill>
                            <a:srgbClr val="0B1B3A"/>
                          </a:solidFill>
                        </a:rPr>
                        <a:t>E: 12→10, F = 14</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r>
              <a:tr h="320040">
                <a:tc>
                  <a:txBody>
                    <a:bodyPr/>
                    <a:lstStyle/>
                    <a:p>
                      <a:pPr algn="ctr" indent="0" marL="0">
                        <a:buNone/>
                      </a:pPr>
                      <a:r>
                        <a:rPr lang="en-US" sz="1200" dirty="0">
                          <a:solidFill>
                            <a:srgbClr val="0B1B3A"/>
                          </a:solidFill>
                        </a:rPr>
                        <a:t>5</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1B3A"/>
                          </a:solidFill>
                        </a:rPr>
                        <a:t>E (10)</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0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3 / 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2 / 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8 / B</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10 / D</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1B3A"/>
                          </a:solidFill>
                        </a:rPr>
                        <a:t>13 / E</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l" indent="0" marL="0">
                        <a:buNone/>
                      </a:pPr>
                      <a:r>
                        <a:rPr lang="en-US" sz="1200" dirty="0">
                          <a:solidFill>
                            <a:srgbClr val="0B1B3A"/>
                          </a:solidFill>
                        </a:rPr>
                        <a:t>F: 14→13</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r>
              <a:tr h="320040">
                <a:tc>
                  <a:txBody>
                    <a:bodyPr/>
                    <a:lstStyle/>
                    <a:p>
                      <a:pPr algn="ctr" indent="0" marL="0">
                        <a:buNone/>
                      </a:pPr>
                      <a:r>
                        <a:rPr lang="en-US" sz="1200" dirty="0">
                          <a:solidFill>
                            <a:srgbClr val="0B1B3A"/>
                          </a:solidFill>
                        </a:rPr>
                        <a:t>6</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b="1" dirty="0">
                          <a:solidFill>
                            <a:srgbClr val="0B1B3A"/>
                          </a:solidFill>
                        </a:rPr>
                        <a:t>F (13)</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0 / –</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3 / 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2 / 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8 / B</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10 / D</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13 / E</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l" indent="0" marL="0">
                        <a:buNone/>
                      </a:pPr>
                      <a:r>
                        <a:rPr lang="en-US" sz="1200" dirty="0">
                          <a:solidFill>
                            <a:srgbClr val="0B1B3A"/>
                          </a:solidFill>
                        </a:rPr>
                        <a:t>No updates; done</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r>
            </a:tbl>
          </a:graphicData>
        </a:graphic>
      </p:graphicFrame>
      <p:sp>
        <p:nvSpPr>
          <p:cNvPr id="29" name="Text 25"/>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200" dirty="0">
                <a:solidFill>
                  <a:schemeClr val="accent6"/>
                </a:solidFill>
              </a:rPr>
              <a:t>Cell = distance / predecessor   •   ∞ = not reached yet   •   Highlighted = changed in this iteration</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Finding the Final Shortest Paths</a:t>
            </a:r>
            <a:endParaRPr lang="en-US" sz="3200" dirty="0"/>
          </a:p>
        </p:txBody>
      </p:sp>
      <p:sp>
        <p:nvSpPr>
          <p:cNvPr id="4" name="Shape 1"/>
          <p:cNvSpPr/>
          <p:nvPr/>
        </p:nvSpPr>
        <p:spPr>
          <a:xfrm flipV="1">
            <a:off x="640080" y="1645920"/>
            <a:ext cx="1234440" cy="905256"/>
          </a:xfrm>
          <a:prstGeom prst="line">
            <a:avLst/>
          </a:prstGeom>
          <a:noFill/>
          <a:ln w="19050">
            <a:solidFill>
              <a:srgbClr val="B8C4D8"/>
            </a:solidFill>
            <a:prstDash val="solid"/>
          </a:ln>
        </p:spPr>
      </p:sp>
      <p:sp>
        <p:nvSpPr>
          <p:cNvPr id="5" name="Shape 2"/>
          <p:cNvSpPr/>
          <p:nvPr/>
        </p:nvSpPr>
        <p:spPr>
          <a:xfrm>
            <a:off x="640080" y="2551176"/>
            <a:ext cx="1234440" cy="905256"/>
          </a:xfrm>
          <a:prstGeom prst="line">
            <a:avLst/>
          </a:prstGeom>
          <a:noFill/>
          <a:ln w="50800">
            <a:solidFill>
              <a:schemeClr val="accent1"/>
            </a:solidFill>
            <a:prstDash val="solid"/>
          </a:ln>
        </p:spPr>
      </p:sp>
      <p:sp>
        <p:nvSpPr>
          <p:cNvPr id="6" name="Shape 3"/>
          <p:cNvSpPr/>
          <p:nvPr/>
        </p:nvSpPr>
        <p:spPr>
          <a:xfrm>
            <a:off x="1874520" y="1645920"/>
            <a:ext cx="0" cy="1810512"/>
          </a:xfrm>
          <a:prstGeom prst="line">
            <a:avLst/>
          </a:prstGeom>
          <a:noFill/>
          <a:ln w="50800">
            <a:solidFill>
              <a:schemeClr val="accent1"/>
            </a:solidFill>
            <a:prstDash val="solid"/>
          </a:ln>
        </p:spPr>
      </p:sp>
      <p:sp>
        <p:nvSpPr>
          <p:cNvPr id="7" name="Shape 4"/>
          <p:cNvSpPr/>
          <p:nvPr/>
        </p:nvSpPr>
        <p:spPr>
          <a:xfrm>
            <a:off x="1874520" y="1645920"/>
            <a:ext cx="1481328" cy="0"/>
          </a:xfrm>
          <a:prstGeom prst="line">
            <a:avLst/>
          </a:prstGeom>
          <a:noFill/>
          <a:ln w="50800">
            <a:solidFill>
              <a:schemeClr val="accent1"/>
            </a:solidFill>
            <a:prstDash val="solid"/>
          </a:ln>
        </p:spPr>
      </p:sp>
      <p:sp>
        <p:nvSpPr>
          <p:cNvPr id="8" name="Shape 5"/>
          <p:cNvSpPr/>
          <p:nvPr/>
        </p:nvSpPr>
        <p:spPr>
          <a:xfrm flipV="1">
            <a:off x="1874520" y="1645920"/>
            <a:ext cx="1481328" cy="1810512"/>
          </a:xfrm>
          <a:prstGeom prst="line">
            <a:avLst/>
          </a:prstGeom>
          <a:noFill/>
          <a:ln w="19050">
            <a:solidFill>
              <a:srgbClr val="B8C4D8"/>
            </a:solidFill>
            <a:prstDash val="solid"/>
          </a:ln>
        </p:spPr>
      </p:sp>
      <p:sp>
        <p:nvSpPr>
          <p:cNvPr id="9" name="Shape 6"/>
          <p:cNvSpPr/>
          <p:nvPr/>
        </p:nvSpPr>
        <p:spPr>
          <a:xfrm>
            <a:off x="1874520" y="3456432"/>
            <a:ext cx="1481328" cy="0"/>
          </a:xfrm>
          <a:prstGeom prst="line">
            <a:avLst/>
          </a:prstGeom>
          <a:noFill/>
          <a:ln w="19050">
            <a:solidFill>
              <a:srgbClr val="B8C4D8"/>
            </a:solidFill>
            <a:prstDash val="solid"/>
          </a:ln>
        </p:spPr>
      </p:sp>
      <p:sp>
        <p:nvSpPr>
          <p:cNvPr id="10" name="Shape 7"/>
          <p:cNvSpPr/>
          <p:nvPr/>
        </p:nvSpPr>
        <p:spPr>
          <a:xfrm>
            <a:off x="3355848" y="1645920"/>
            <a:ext cx="0" cy="1810512"/>
          </a:xfrm>
          <a:prstGeom prst="line">
            <a:avLst/>
          </a:prstGeom>
          <a:noFill/>
          <a:ln w="50800">
            <a:solidFill>
              <a:schemeClr val="accent1"/>
            </a:solidFill>
            <a:prstDash val="solid"/>
          </a:ln>
        </p:spPr>
      </p:sp>
      <p:sp>
        <p:nvSpPr>
          <p:cNvPr id="11" name="Shape 8"/>
          <p:cNvSpPr/>
          <p:nvPr/>
        </p:nvSpPr>
        <p:spPr>
          <a:xfrm>
            <a:off x="3355848" y="1645920"/>
            <a:ext cx="1234440" cy="905256"/>
          </a:xfrm>
          <a:prstGeom prst="line">
            <a:avLst/>
          </a:prstGeom>
          <a:noFill/>
          <a:ln w="19050">
            <a:solidFill>
              <a:srgbClr val="B8C4D8"/>
            </a:solidFill>
            <a:prstDash val="solid"/>
          </a:ln>
        </p:spPr>
      </p:sp>
      <p:sp>
        <p:nvSpPr>
          <p:cNvPr id="12" name="Shape 9"/>
          <p:cNvSpPr/>
          <p:nvPr/>
        </p:nvSpPr>
        <p:spPr>
          <a:xfrm flipV="1">
            <a:off x="3355848" y="2551176"/>
            <a:ext cx="1234440" cy="905256"/>
          </a:xfrm>
          <a:prstGeom prst="line">
            <a:avLst/>
          </a:prstGeom>
          <a:noFill/>
          <a:ln w="50800">
            <a:solidFill>
              <a:schemeClr val="accent1"/>
            </a:solidFill>
            <a:prstDash val="solid"/>
          </a:ln>
        </p:spPr>
      </p:sp>
      <p:sp>
        <p:nvSpPr>
          <p:cNvPr id="13" name="Text 10"/>
          <p:cNvSpPr txBox="1"/>
          <p:nvPr/>
        </p:nvSpPr>
        <p:spPr>
          <a:xfrm>
            <a:off x="1120140" y="1988820"/>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4</a:t>
            </a:r>
            <a:endParaRPr lang="en-US" sz="1100" dirty="0"/>
          </a:p>
        </p:txBody>
      </p:sp>
      <p:sp>
        <p:nvSpPr>
          <p:cNvPr id="14" name="Text 11"/>
          <p:cNvSpPr txBox="1"/>
          <p:nvPr/>
        </p:nvSpPr>
        <p:spPr>
          <a:xfrm>
            <a:off x="1120140" y="2894076"/>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15" name="Text 12"/>
          <p:cNvSpPr txBox="1"/>
          <p:nvPr/>
        </p:nvSpPr>
        <p:spPr>
          <a:xfrm>
            <a:off x="1737360" y="2441448"/>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1"/>
                </a:solidFill>
              </a:rPr>
              <a:t>1</a:t>
            </a:r>
            <a:endParaRPr lang="en-US" sz="1100" dirty="0"/>
          </a:p>
        </p:txBody>
      </p:sp>
      <p:sp>
        <p:nvSpPr>
          <p:cNvPr id="16" name="Text 13"/>
          <p:cNvSpPr txBox="1"/>
          <p:nvPr/>
        </p:nvSpPr>
        <p:spPr>
          <a:xfrm>
            <a:off x="2478024" y="1536192"/>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1"/>
                </a:solidFill>
              </a:rPr>
              <a:t>5</a:t>
            </a:r>
            <a:endParaRPr lang="en-US" sz="1100" dirty="0"/>
          </a:p>
        </p:txBody>
      </p:sp>
      <p:sp>
        <p:nvSpPr>
          <p:cNvPr id="17" name="Text 14"/>
          <p:cNvSpPr txBox="1"/>
          <p:nvPr/>
        </p:nvSpPr>
        <p:spPr>
          <a:xfrm>
            <a:off x="2478024" y="2441448"/>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8</a:t>
            </a:r>
            <a:endParaRPr lang="en-US" sz="1100" dirty="0"/>
          </a:p>
        </p:txBody>
      </p:sp>
      <p:sp>
        <p:nvSpPr>
          <p:cNvPr id="18" name="Text 15"/>
          <p:cNvSpPr txBox="1"/>
          <p:nvPr/>
        </p:nvSpPr>
        <p:spPr>
          <a:xfrm>
            <a:off x="2478024" y="3346704"/>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10</a:t>
            </a:r>
            <a:endParaRPr lang="en-US" sz="1100" dirty="0"/>
          </a:p>
        </p:txBody>
      </p:sp>
      <p:sp>
        <p:nvSpPr>
          <p:cNvPr id="19" name="Text 16"/>
          <p:cNvSpPr txBox="1"/>
          <p:nvPr/>
        </p:nvSpPr>
        <p:spPr>
          <a:xfrm>
            <a:off x="3218688" y="2441448"/>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1"/>
                </a:solidFill>
              </a:rPr>
              <a:t>2</a:t>
            </a:r>
            <a:endParaRPr lang="en-US" sz="1100" dirty="0"/>
          </a:p>
        </p:txBody>
      </p:sp>
      <p:sp>
        <p:nvSpPr>
          <p:cNvPr id="20" name="Text 17"/>
          <p:cNvSpPr txBox="1"/>
          <p:nvPr/>
        </p:nvSpPr>
        <p:spPr>
          <a:xfrm>
            <a:off x="3835908" y="1988820"/>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6"/>
                </a:solidFill>
              </a:rPr>
              <a:t>6</a:t>
            </a:r>
            <a:endParaRPr lang="en-US" sz="1100" dirty="0"/>
          </a:p>
        </p:txBody>
      </p:sp>
      <p:sp>
        <p:nvSpPr>
          <p:cNvPr id="21" name="Text 18"/>
          <p:cNvSpPr txBox="1"/>
          <p:nvPr/>
        </p:nvSpPr>
        <p:spPr>
          <a:xfrm>
            <a:off x="3835908" y="2894076"/>
            <a:ext cx="274320" cy="219456"/>
          </a:xfrm>
          <a:prstGeom prst="rect">
            <a:avLst/>
          </a:prstGeom>
          <a:solidFill>
            <a:schemeClr val="bg1"/>
          </a:solidFill>
          <a:ln/>
        </p:spPr>
        <p:txBody>
          <a:bodyPr wrap="square" lIns="0" tIns="0" rIns="0" bIns="0" rtlCol="0" anchor="ctr"/>
          <a:lstStyle/>
          <a:p>
            <a:pPr algn="ctr" indent="0" marL="0">
              <a:buNone/>
            </a:pPr>
            <a:r>
              <a:rPr lang="en-US" sz="1100" b="1" dirty="0">
                <a:solidFill>
                  <a:schemeClr val="accent1"/>
                </a:solidFill>
              </a:rPr>
              <a:t>3</a:t>
            </a:r>
            <a:endParaRPr lang="en-US" sz="1100" dirty="0"/>
          </a:p>
        </p:txBody>
      </p:sp>
      <p:sp>
        <p:nvSpPr>
          <p:cNvPr id="22" name="Text 19"/>
          <p:cNvSpPr txBox="1"/>
          <p:nvPr/>
        </p:nvSpPr>
        <p:spPr>
          <a:xfrm>
            <a:off x="438912" y="2350008"/>
            <a:ext cx="402336" cy="402336"/>
          </a:xfrm>
          <a:prstGeom prst="ellipse">
            <a:avLst/>
          </a:prstGeom>
          <a:solidFill>
            <a:schemeClr val="accent4"/>
          </a:solidFill>
          <a:ln w="25400">
            <a:solidFill>
              <a:schemeClr val="accent4"/>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23" name="Text 20"/>
          <p:cNvSpPr txBox="1"/>
          <p:nvPr/>
        </p:nvSpPr>
        <p:spPr>
          <a:xfrm>
            <a:off x="228600" y="2075688"/>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0</a:t>
            </a:r>
            <a:endParaRPr lang="en-US" sz="1200" dirty="0"/>
          </a:p>
        </p:txBody>
      </p:sp>
      <p:sp>
        <p:nvSpPr>
          <p:cNvPr id="24" name="Text 21"/>
          <p:cNvSpPr txBox="1"/>
          <p:nvPr/>
        </p:nvSpPr>
        <p:spPr>
          <a:xfrm>
            <a:off x="1673352" y="1444752"/>
            <a:ext cx="402336" cy="402336"/>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5" name="Text 22"/>
          <p:cNvSpPr txBox="1"/>
          <p:nvPr/>
        </p:nvSpPr>
        <p:spPr>
          <a:xfrm>
            <a:off x="1463040" y="1170432"/>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3</a:t>
            </a:r>
            <a:endParaRPr lang="en-US" sz="1200" dirty="0"/>
          </a:p>
        </p:txBody>
      </p:sp>
      <p:sp>
        <p:nvSpPr>
          <p:cNvPr id="26" name="Text 23"/>
          <p:cNvSpPr txBox="1"/>
          <p:nvPr/>
        </p:nvSpPr>
        <p:spPr>
          <a:xfrm>
            <a:off x="1673352" y="3255264"/>
            <a:ext cx="402336" cy="402336"/>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7" name="Text 24"/>
          <p:cNvSpPr txBox="1"/>
          <p:nvPr/>
        </p:nvSpPr>
        <p:spPr>
          <a:xfrm>
            <a:off x="1463040" y="3694176"/>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2</a:t>
            </a:r>
            <a:endParaRPr lang="en-US" sz="1200" dirty="0"/>
          </a:p>
        </p:txBody>
      </p:sp>
      <p:sp>
        <p:nvSpPr>
          <p:cNvPr id="28" name="Text 25"/>
          <p:cNvSpPr txBox="1"/>
          <p:nvPr/>
        </p:nvSpPr>
        <p:spPr>
          <a:xfrm>
            <a:off x="3154680" y="1444752"/>
            <a:ext cx="402336" cy="402336"/>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9" name="Text 26"/>
          <p:cNvSpPr txBox="1"/>
          <p:nvPr/>
        </p:nvSpPr>
        <p:spPr>
          <a:xfrm>
            <a:off x="2944368" y="1170432"/>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8</a:t>
            </a:r>
            <a:endParaRPr lang="en-US" sz="1200" dirty="0"/>
          </a:p>
        </p:txBody>
      </p:sp>
      <p:sp>
        <p:nvSpPr>
          <p:cNvPr id="30" name="Text 27"/>
          <p:cNvSpPr txBox="1"/>
          <p:nvPr/>
        </p:nvSpPr>
        <p:spPr>
          <a:xfrm>
            <a:off x="3154680" y="3255264"/>
            <a:ext cx="402336" cy="402336"/>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31" name="Text 28"/>
          <p:cNvSpPr txBox="1"/>
          <p:nvPr/>
        </p:nvSpPr>
        <p:spPr>
          <a:xfrm>
            <a:off x="2944368" y="3694176"/>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10</a:t>
            </a:r>
            <a:endParaRPr lang="en-US" sz="1200" dirty="0"/>
          </a:p>
        </p:txBody>
      </p:sp>
      <p:sp>
        <p:nvSpPr>
          <p:cNvPr id="32" name="Text 29"/>
          <p:cNvSpPr txBox="1"/>
          <p:nvPr/>
        </p:nvSpPr>
        <p:spPr>
          <a:xfrm>
            <a:off x="4389120" y="2350008"/>
            <a:ext cx="402336" cy="402336"/>
          </a:xfrm>
          <a:prstGeom prst="ellipse">
            <a:avLst/>
          </a:prstGeom>
          <a:solidFill>
            <a:schemeClr val="accent3"/>
          </a:solidFill>
          <a:ln w="25400">
            <a:solidFill>
              <a:schemeClr val="accent3"/>
            </a:solidFill>
          </a:ln>
        </p:spPr>
        <p:txBody>
          <a:bodyPr wrap="square" lIns="0" tIns="0" rIns="0" bIns="0" rtlCol="0" anchor="ctr"/>
          <a:lstStyle/>
          <a:p>
            <a:pPr algn="ctr" indent="0" marL="0">
              <a:buNone/>
            </a:pPr>
            <a:r>
              <a:rPr lang="en-US" sz="1400" b="1" dirty="0">
                <a:solidFill>
                  <a:schemeClr val="tx1"/>
                </a:solidFill>
              </a:rPr>
              <a:t>F</a:t>
            </a:r>
            <a:endParaRPr lang="en-US" sz="1400" dirty="0"/>
          </a:p>
        </p:txBody>
      </p:sp>
      <p:sp>
        <p:nvSpPr>
          <p:cNvPr id="33" name="Text 30"/>
          <p:cNvSpPr txBox="1"/>
          <p:nvPr/>
        </p:nvSpPr>
        <p:spPr>
          <a:xfrm>
            <a:off x="4178808" y="2075688"/>
            <a:ext cx="822960" cy="237744"/>
          </a:xfrm>
          <a:prstGeom prst="rect">
            <a:avLst/>
          </a:prstGeom>
          <a:noFill/>
          <a:ln/>
        </p:spPr>
        <p:txBody>
          <a:bodyPr wrap="square" lIns="0" tIns="0" rIns="0" bIns="0" rtlCol="0" anchor="t"/>
          <a:lstStyle/>
          <a:p>
            <a:pPr algn="ctr" indent="0" marL="0">
              <a:buNone/>
            </a:pPr>
            <a:r>
              <a:rPr lang="en-US" sz="1200" b="1" dirty="0">
                <a:solidFill>
                  <a:schemeClr val="accent1"/>
                </a:solidFill>
              </a:rPr>
              <a:t>d = 13</a:t>
            </a:r>
            <a:endParaRPr lang="en-US" sz="1200" dirty="0"/>
          </a:p>
        </p:txBody>
      </p:sp>
      <p:sp>
        <p:nvSpPr>
          <p:cNvPr id="34" name="Shape 31"/>
          <p:cNvSpPr/>
          <p:nvPr/>
        </p:nvSpPr>
        <p:spPr>
          <a:xfrm>
            <a:off x="457200" y="4069080"/>
            <a:ext cx="4480560" cy="548640"/>
          </a:xfrm>
          <a:prstGeom prst="roundRect">
            <a:avLst>
              <a:gd name="adj" fmla="val 20000"/>
            </a:avLst>
          </a:prstGeom>
          <a:solidFill>
            <a:srgbClr val="EAF2FF"/>
          </a:solidFill>
          <a:ln/>
        </p:spPr>
      </p:sp>
      <p:sp>
        <p:nvSpPr>
          <p:cNvPr id="35" name="Text 32"/>
          <p:cNvSpPr txBox="1"/>
          <p:nvPr/>
        </p:nvSpPr>
        <p:spPr>
          <a:xfrm>
            <a:off x="594360" y="4069080"/>
            <a:ext cx="4206240" cy="548640"/>
          </a:xfrm>
          <a:prstGeom prst="rect">
            <a:avLst/>
          </a:prstGeom>
          <a:noFill/>
          <a:ln/>
        </p:spPr>
        <p:txBody>
          <a:bodyPr wrap="square" lIns="0" tIns="0" rIns="0" bIns="0" rtlCol="0" anchor="ctr"/>
          <a:lstStyle/>
          <a:p>
            <a:pPr indent="0" marL="0">
              <a:buNone/>
            </a:pPr>
            <a:r>
              <a:rPr lang="en-US" sz="1300" dirty="0">
                <a:solidFill>
                  <a:schemeClr val="tx1"/>
                </a:solidFill>
              </a:rPr>
              <a:t>Rejected: A→B direct = 4 &gt; 3  •  via C: D = 10 &gt; 8, E = 12 &gt; 10  •  via D: F = 14 &gt; 13</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120640" y="1234440"/>
          <a:ext cx="3566160" cy="914400"/>
        </p:xfrm>
        <a:graphic>
          <a:graphicData uri="http://schemas.openxmlformats.org/drawingml/2006/table">
            <a:tbl>
              <a:tblPr/>
              <a:tblGrid>
                <a:gridCol w="594360"/>
                <a:gridCol w="1600200"/>
                <a:gridCol w="1371600"/>
              </a:tblGrid>
              <a:tr h="347472">
                <a:tc>
                  <a:txBody>
                    <a:bodyPr/>
                    <a:lstStyle/>
                    <a:p>
                      <a:pPr algn="ctr" indent="0" marL="0">
                        <a:buNone/>
                      </a:pPr>
                      <a:r>
                        <a:rPr lang="en-US" sz="1200" b="1" dirty="0">
                          <a:solidFill>
                            <a:srgbClr val="FFFFFF"/>
                          </a:solidFill>
                        </a:rPr>
                        <a:t>Vertex</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Shortest path</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c>
                  <a:txBody>
                    <a:bodyPr/>
                    <a:lstStyle/>
                    <a:p>
                      <a:pPr algn="ctr" indent="0" marL="0">
                        <a:buNone/>
                      </a:pPr>
                      <a:r>
                        <a:rPr lang="en-US" sz="1200" b="1" dirty="0">
                          <a:solidFill>
                            <a:srgbClr val="FFFFFF"/>
                          </a:solidFill>
                        </a:rPr>
                        <a:t>Distance</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0B1B3A"/>
                    </a:solidFill>
                  </a:tcPr>
                </a:tc>
              </a:tr>
              <a:tr h="347472">
                <a:tc>
                  <a:txBody>
                    <a:bodyPr/>
                    <a:lstStyle/>
                    <a:p>
                      <a:pPr algn="ctr" indent="0" marL="0">
                        <a:buNone/>
                      </a:pPr>
                      <a:r>
                        <a:rPr lang="en-US" sz="1200" b="1" dirty="0">
                          <a:solidFill>
                            <a:srgbClr val="0B1B3A"/>
                          </a:solidFill>
                        </a:rPr>
                        <a:t>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A</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0</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0B1B3A"/>
                          </a:solidFill>
                        </a:rPr>
                        <a:t>B</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A→C→B</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2+1 = 3</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r>
              <a:tr h="347472">
                <a:tc>
                  <a:txBody>
                    <a:bodyPr/>
                    <a:lstStyle/>
                    <a:p>
                      <a:pPr algn="ctr" indent="0" marL="0">
                        <a:buNone/>
                      </a:pPr>
                      <a:r>
                        <a:rPr lang="en-US" sz="1200" b="1" dirty="0">
                          <a:solidFill>
                            <a:srgbClr val="0B1B3A"/>
                          </a:solidFill>
                        </a:rPr>
                        <a:t>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A→C</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2</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0B1B3A"/>
                          </a:solidFill>
                        </a:rPr>
                        <a:t>D</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A→C→B→D</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c>
                  <a:txBody>
                    <a:bodyPr/>
                    <a:lstStyle/>
                    <a:p>
                      <a:pPr algn="ctr" indent="0" marL="0">
                        <a:buNone/>
                      </a:pPr>
                      <a:r>
                        <a:rPr lang="en-US" sz="1200" dirty="0">
                          <a:solidFill>
                            <a:srgbClr val="0B1B3A"/>
                          </a:solidFill>
                        </a:rPr>
                        <a:t>2+1+5 = 8</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EAF2FF"/>
                    </a:solidFill>
                  </a:tcPr>
                </a:tc>
              </a:tr>
              <a:tr h="347472">
                <a:tc>
                  <a:txBody>
                    <a:bodyPr/>
                    <a:lstStyle/>
                    <a:p>
                      <a:pPr algn="ctr" indent="0" marL="0">
                        <a:buNone/>
                      </a:pPr>
                      <a:r>
                        <a:rPr lang="en-US" sz="1200" b="1" dirty="0">
                          <a:solidFill>
                            <a:srgbClr val="0B1B3A"/>
                          </a:solidFill>
                        </a:rPr>
                        <a:t>E</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A→C→B→D→E</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B1B3A"/>
                          </a:solidFill>
                        </a:rPr>
                        <a:t>2+1+5+2 = 10</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FFFF"/>
                    </a:solidFill>
                  </a:tcPr>
                </a:tc>
              </a:tr>
              <a:tr h="347472">
                <a:tc>
                  <a:txBody>
                    <a:bodyPr/>
                    <a:lstStyle/>
                    <a:p>
                      <a:pPr algn="ctr" indent="0" marL="0">
                        <a:buNone/>
                      </a:pPr>
                      <a:r>
                        <a:rPr lang="en-US" sz="1200" b="1" dirty="0">
                          <a:solidFill>
                            <a:srgbClr val="0B1B3A"/>
                          </a:solidFill>
                        </a:rPr>
                        <a:t>F</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b="1" dirty="0">
                          <a:solidFill>
                            <a:srgbClr val="0B1B3A"/>
                          </a:solidFill>
                        </a:rPr>
                        <a:t>A→C→B→D→E→F</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c>
                  <a:txBody>
                    <a:bodyPr/>
                    <a:lstStyle/>
                    <a:p>
                      <a:pPr algn="ctr" indent="0" marL="0">
                        <a:buNone/>
                      </a:pPr>
                      <a:r>
                        <a:rPr lang="en-US" sz="1200" b="1" dirty="0">
                          <a:solidFill>
                            <a:srgbClr val="0B1B3A"/>
                          </a:solidFill>
                        </a:rPr>
                        <a:t>2+1+5+2+3 = 13</a:t>
                      </a:r>
                      <a:endParaRPr lang="en-US" sz="1200" dirty="0"/>
                    </a:p>
                  </a:txBody>
                  <a:tcPr marL="91440" marR="91440" marT="45720" marB="45720" anchor="ctr">
                    <a:lnL w="9525" cap="flat" cmpd="sng" algn="ctr">
                      <a:solidFill>
                        <a:srgbClr val="C9D6EE"/>
                      </a:solidFill>
                      <a:prstDash val="solid"/>
                      <a:round/>
                      <a:headEnd type="none" w="med" len="med"/>
                      <a:tailEnd type="none" w="med" len="med"/>
                    </a:lnL>
                    <a:lnR w="9525" cap="flat" cmpd="sng" algn="ctr">
                      <a:solidFill>
                        <a:srgbClr val="C9D6EE"/>
                      </a:solidFill>
                      <a:prstDash val="solid"/>
                      <a:round/>
                      <a:headEnd type="none" w="med" len="med"/>
                      <a:tailEnd type="none" w="med" len="med"/>
                    </a:lnR>
                    <a:lnT w="9525" cap="flat" cmpd="sng" algn="ctr">
                      <a:solidFill>
                        <a:srgbClr val="C9D6EE"/>
                      </a:solidFill>
                      <a:prstDash val="solid"/>
                      <a:round/>
                      <a:headEnd type="none" w="med" len="med"/>
                      <a:tailEnd type="none" w="med" len="med"/>
                    </a:lnT>
                    <a:lnB w="9525" cap="flat" cmpd="sng" algn="ctr">
                      <a:solidFill>
                        <a:srgbClr val="C9D6EE"/>
                      </a:solidFill>
                      <a:prstDash val="solid"/>
                      <a:round/>
                      <a:headEnd type="none" w="med" len="med"/>
                      <a:tailEnd type="none" w="med" len="med"/>
                    </a:lnB>
                    <a:solidFill>
                      <a:srgbClr val="FFE9A8"/>
                    </a:solidFill>
                  </a:tcPr>
                </a:tc>
              </a:tr>
            </a:tbl>
          </a:graphicData>
        </a:graphic>
      </p:graphicFrame>
      <p:sp>
        <p:nvSpPr>
          <p:cNvPr id="37" name="Shape 33"/>
          <p:cNvSpPr/>
          <p:nvPr/>
        </p:nvSpPr>
        <p:spPr>
          <a:xfrm>
            <a:off x="5120640" y="3840480"/>
            <a:ext cx="3566160" cy="777240"/>
          </a:xfrm>
          <a:prstGeom prst="roundRect">
            <a:avLst>
              <a:gd name="adj" fmla="val 14118"/>
            </a:avLst>
          </a:prstGeom>
          <a:solidFill>
            <a:srgbClr val="2F80ED"/>
          </a:solidFill>
          <a:ln/>
        </p:spPr>
      </p:sp>
      <p:sp>
        <p:nvSpPr>
          <p:cNvPr id="38" name="Text 34"/>
          <p:cNvSpPr txBox="1"/>
          <p:nvPr/>
        </p:nvSpPr>
        <p:spPr>
          <a:xfrm>
            <a:off x="5303520" y="3840480"/>
            <a:ext cx="3200400" cy="777240"/>
          </a:xfrm>
          <a:prstGeom prst="rect">
            <a:avLst/>
          </a:prstGeom>
          <a:noFill/>
          <a:ln/>
        </p:spPr>
        <p:txBody>
          <a:bodyPr wrap="square" lIns="0" tIns="0" rIns="0" bIns="0" rtlCol="0" anchor="ctr"/>
          <a:lstStyle/>
          <a:p>
            <a:pPr indent="0" marL="0">
              <a:buNone/>
            </a:pPr>
            <a:r>
              <a:rPr lang="en-US" sz="1500" b="1" dirty="0">
                <a:solidFill>
                  <a:schemeClr val="bg1"/>
                </a:solidFill>
              </a:rPr>
              <a:t>Shortest path A → F: A→C→B→D→E→F, total length 13</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Pseudocode</a:t>
            </a:r>
            <a:endParaRPr lang="en-US" sz="3200" dirty="0"/>
          </a:p>
        </p:txBody>
      </p:sp>
      <p:sp>
        <p:nvSpPr>
          <p:cNvPr id="4" name="Shape 1"/>
          <p:cNvSpPr/>
          <p:nvPr/>
        </p:nvSpPr>
        <p:spPr>
          <a:xfrm>
            <a:off x="457200" y="1188720"/>
            <a:ext cx="4663440" cy="3383280"/>
          </a:xfrm>
          <a:prstGeom prst="roundRect">
            <a:avLst>
              <a:gd name="adj" fmla="val 2703"/>
            </a:avLst>
          </a:prstGeom>
          <a:solidFill>
            <a:srgbClr val="0B1B3A"/>
          </a:solidFill>
          <a:ln/>
        </p:spPr>
      </p:sp>
      <p:sp>
        <p:nvSpPr>
          <p:cNvPr id="5" name="Text 2"/>
          <p:cNvSpPr txBox="1"/>
          <p:nvPr/>
        </p:nvSpPr>
        <p:spPr>
          <a:xfrm>
            <a:off x="640080" y="1325880"/>
            <a:ext cx="4389120" cy="3108960"/>
          </a:xfrm>
          <a:prstGeom prst="rect">
            <a:avLst/>
          </a:prstGeom>
          <a:noFill/>
          <a:ln/>
        </p:spPr>
        <p:txBody>
          <a:bodyPr wrap="square" lIns="0" tIns="0" rIns="0" bIns="0" rtlCol="0" anchor="ctr"/>
          <a:lstStyle/>
          <a:p>
            <a:pPr indent="0" marL="0">
              <a:buNone/>
            </a:pPr>
            <a:r>
              <a:rPr lang="en-US" sz="1300" dirty="0">
                <a:solidFill>
                  <a:srgbClr val="CADCFC"/>
                </a:solidFill>
                <a:latin typeface="Courier New" pitchFamily="34" charset="0"/>
                <a:ea typeface="Courier New" pitchFamily="34" charset="-122"/>
                <a:cs typeface="Courier New" pitchFamily="34" charset="-120"/>
              </a:rPr>
              <a:t>Dijkstra(Graph, source):</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for each vertex v:</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dist[v] ← ∞</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prev[v] ← NIL</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dist[source] ← 0</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Q ← set of all vertices</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while Q is not empty:</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u ← vertex in Q with min dist[u]</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remove u from Q</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for each neighbour v of u:</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if dist[u] + w(u,v) &lt; dist[v]:</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dist[v] ← dist[u] + w(u,v)</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prev[v] ← u</a:t>
            </a:r>
            <a:endParaRPr lang="en-US" sz="1300" dirty="0"/>
          </a:p>
          <a:p>
            <a:pPr indent="0" marL="0">
              <a:buNone/>
            </a:pPr>
            <a:r>
              <a:rPr lang="en-US" sz="1300" dirty="0">
                <a:solidFill>
                  <a:srgbClr val="CADCFC"/>
                </a:solidFill>
                <a:latin typeface="Courier New" pitchFamily="34" charset="0"/>
                <a:ea typeface="Courier New" pitchFamily="34" charset="-122"/>
                <a:cs typeface="Courier New" pitchFamily="34" charset="-120"/>
              </a:rPr>
              <a:t>  return dist, prev</a:t>
            </a:r>
            <a:endParaRPr lang="en-US" sz="1300" dirty="0"/>
          </a:p>
        </p:txBody>
      </p:sp>
      <p:sp>
        <p:nvSpPr>
          <p:cNvPr id="6" name="Text 3"/>
          <p:cNvSpPr txBox="1"/>
          <p:nvPr/>
        </p:nvSpPr>
        <p:spPr>
          <a:xfrm>
            <a:off x="5394960" y="1280160"/>
            <a:ext cx="457200" cy="45720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6035040" y="1234440"/>
            <a:ext cx="2651760" cy="320040"/>
          </a:xfrm>
          <a:prstGeom prst="rect">
            <a:avLst/>
          </a:prstGeom>
          <a:noFill/>
          <a:ln/>
        </p:spPr>
        <p:txBody>
          <a:bodyPr wrap="square" lIns="0" tIns="0" rIns="0" bIns="0" rtlCol="0" anchor="t"/>
          <a:lstStyle/>
          <a:p>
            <a:pPr indent="0" marL="0">
              <a:buNone/>
            </a:pPr>
            <a:r>
              <a:rPr lang="en-US" sz="1600" b="1" dirty="0">
                <a:solidFill>
                  <a:schemeClr val="tx1"/>
                </a:solidFill>
              </a:rPr>
              <a:t>Initialize</a:t>
            </a:r>
            <a:endParaRPr lang="en-US" sz="1600" dirty="0"/>
          </a:p>
        </p:txBody>
      </p:sp>
      <p:sp>
        <p:nvSpPr>
          <p:cNvPr id="8" name="Text 5"/>
          <p:cNvSpPr txBox="1"/>
          <p:nvPr/>
        </p:nvSpPr>
        <p:spPr>
          <a:xfrm>
            <a:off x="6035040" y="1572768"/>
            <a:ext cx="2651760" cy="365760"/>
          </a:xfrm>
          <a:prstGeom prst="rect">
            <a:avLst/>
          </a:prstGeom>
          <a:noFill/>
          <a:ln/>
        </p:spPr>
        <p:txBody>
          <a:bodyPr wrap="square" lIns="0" tIns="0" rIns="0" bIns="0" rtlCol="0" anchor="t"/>
          <a:lstStyle/>
          <a:p>
            <a:pPr indent="0" marL="0">
              <a:buNone/>
            </a:pPr>
            <a:r>
              <a:rPr lang="en-US" sz="1400" dirty="0">
                <a:solidFill>
                  <a:schemeClr val="accent6"/>
                </a:solidFill>
              </a:rPr>
              <a:t>All distances ∞, source 0</a:t>
            </a:r>
            <a:endParaRPr lang="en-US" sz="1400" dirty="0"/>
          </a:p>
        </p:txBody>
      </p:sp>
      <p:sp>
        <p:nvSpPr>
          <p:cNvPr id="9" name="Text 6"/>
          <p:cNvSpPr txBox="1"/>
          <p:nvPr/>
        </p:nvSpPr>
        <p:spPr>
          <a:xfrm>
            <a:off x="5394960" y="2148840"/>
            <a:ext cx="457200" cy="45720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6035040" y="2103120"/>
            <a:ext cx="2651760" cy="320040"/>
          </a:xfrm>
          <a:prstGeom prst="rect">
            <a:avLst/>
          </a:prstGeom>
          <a:noFill/>
          <a:ln/>
        </p:spPr>
        <p:txBody>
          <a:bodyPr wrap="square" lIns="0" tIns="0" rIns="0" bIns="0" rtlCol="0" anchor="t"/>
          <a:lstStyle/>
          <a:p>
            <a:pPr indent="0" marL="0">
              <a:buNone/>
            </a:pPr>
            <a:r>
              <a:rPr lang="en-US" sz="1600" b="1" dirty="0">
                <a:solidFill>
                  <a:schemeClr val="tx1"/>
                </a:solidFill>
              </a:rPr>
              <a:t>Greedy pick</a:t>
            </a:r>
            <a:endParaRPr lang="en-US" sz="1600" dirty="0"/>
          </a:p>
        </p:txBody>
      </p:sp>
      <p:sp>
        <p:nvSpPr>
          <p:cNvPr id="11" name="Text 8"/>
          <p:cNvSpPr txBox="1"/>
          <p:nvPr/>
        </p:nvSpPr>
        <p:spPr>
          <a:xfrm>
            <a:off x="6035040" y="2441448"/>
            <a:ext cx="2651760" cy="365760"/>
          </a:xfrm>
          <a:prstGeom prst="rect">
            <a:avLst/>
          </a:prstGeom>
          <a:noFill/>
          <a:ln/>
        </p:spPr>
        <p:txBody>
          <a:bodyPr wrap="square" lIns="0" tIns="0" rIns="0" bIns="0" rtlCol="0" anchor="t"/>
          <a:lstStyle/>
          <a:p>
            <a:pPr indent="0" marL="0">
              <a:buNone/>
            </a:pPr>
            <a:r>
              <a:rPr lang="en-US" sz="1400" dirty="0">
                <a:solidFill>
                  <a:schemeClr val="accent6"/>
                </a:solidFill>
              </a:rPr>
              <a:t>Take the closest unvisited vertex</a:t>
            </a:r>
            <a:endParaRPr lang="en-US" sz="1400" dirty="0"/>
          </a:p>
        </p:txBody>
      </p:sp>
      <p:sp>
        <p:nvSpPr>
          <p:cNvPr id="12" name="Text 9"/>
          <p:cNvSpPr txBox="1"/>
          <p:nvPr/>
        </p:nvSpPr>
        <p:spPr>
          <a:xfrm>
            <a:off x="5394960" y="3017520"/>
            <a:ext cx="457200" cy="45720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0"/>
          <p:cNvSpPr txBox="1"/>
          <p:nvPr/>
        </p:nvSpPr>
        <p:spPr>
          <a:xfrm>
            <a:off x="6035040" y="2971800"/>
            <a:ext cx="2651760" cy="320040"/>
          </a:xfrm>
          <a:prstGeom prst="rect">
            <a:avLst/>
          </a:prstGeom>
          <a:noFill/>
          <a:ln/>
        </p:spPr>
        <p:txBody>
          <a:bodyPr wrap="square" lIns="0" tIns="0" rIns="0" bIns="0" rtlCol="0" anchor="t"/>
          <a:lstStyle/>
          <a:p>
            <a:pPr indent="0" marL="0">
              <a:buNone/>
            </a:pPr>
            <a:r>
              <a:rPr lang="en-US" sz="1600" b="1" dirty="0">
                <a:solidFill>
                  <a:schemeClr val="tx1"/>
                </a:solidFill>
              </a:rPr>
              <a:t>Relax edges</a:t>
            </a:r>
            <a:endParaRPr lang="en-US" sz="1600" dirty="0"/>
          </a:p>
        </p:txBody>
      </p:sp>
      <p:sp>
        <p:nvSpPr>
          <p:cNvPr id="14" name="Text 11"/>
          <p:cNvSpPr txBox="1"/>
          <p:nvPr/>
        </p:nvSpPr>
        <p:spPr>
          <a:xfrm>
            <a:off x="6035040" y="3310128"/>
            <a:ext cx="2651760" cy="365760"/>
          </a:xfrm>
          <a:prstGeom prst="rect">
            <a:avLst/>
          </a:prstGeom>
          <a:noFill/>
          <a:ln/>
        </p:spPr>
        <p:txBody>
          <a:bodyPr wrap="square" lIns="0" tIns="0" rIns="0" bIns="0" rtlCol="0" anchor="t"/>
          <a:lstStyle/>
          <a:p>
            <a:pPr indent="0" marL="0">
              <a:buNone/>
            </a:pPr>
            <a:r>
              <a:rPr lang="en-US" sz="1400" dirty="0">
                <a:solidFill>
                  <a:schemeClr val="accent6"/>
                </a:solidFill>
              </a:rPr>
              <a:t>Improve neighbours through u</a:t>
            </a:r>
            <a:endParaRPr lang="en-US" sz="1400" dirty="0"/>
          </a:p>
        </p:txBody>
      </p:sp>
      <p:sp>
        <p:nvSpPr>
          <p:cNvPr id="15" name="Text 12"/>
          <p:cNvSpPr txBox="1"/>
          <p:nvPr/>
        </p:nvSpPr>
        <p:spPr>
          <a:xfrm>
            <a:off x="5394960" y="3886200"/>
            <a:ext cx="457200" cy="457200"/>
          </a:xfrm>
          <a:prstGeom prst="ellipse">
            <a:avLst/>
          </a:prstGeom>
          <a:solidFill>
            <a:schemeClr val="accent1"/>
          </a:solidFill>
          <a:ln w="25400">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3"/>
          <p:cNvSpPr txBox="1"/>
          <p:nvPr/>
        </p:nvSpPr>
        <p:spPr>
          <a:xfrm>
            <a:off x="6035040" y="3840480"/>
            <a:ext cx="2651760" cy="320040"/>
          </a:xfrm>
          <a:prstGeom prst="rect">
            <a:avLst/>
          </a:prstGeom>
          <a:noFill/>
          <a:ln/>
        </p:spPr>
        <p:txBody>
          <a:bodyPr wrap="square" lIns="0" tIns="0" rIns="0" bIns="0" rtlCol="0" anchor="t"/>
          <a:lstStyle/>
          <a:p>
            <a:pPr indent="0" marL="0">
              <a:buNone/>
            </a:pPr>
            <a:r>
              <a:rPr lang="en-US" sz="1600" b="1" dirty="0">
                <a:solidFill>
                  <a:schemeClr val="tx1"/>
                </a:solidFill>
              </a:rPr>
              <a:t>Result</a:t>
            </a:r>
            <a:endParaRPr lang="en-US" sz="1600" dirty="0"/>
          </a:p>
        </p:txBody>
      </p:sp>
      <p:sp>
        <p:nvSpPr>
          <p:cNvPr id="17" name="Text 14"/>
          <p:cNvSpPr txBox="1"/>
          <p:nvPr/>
        </p:nvSpPr>
        <p:spPr>
          <a:xfrm>
            <a:off x="6035040" y="4178808"/>
            <a:ext cx="2651760" cy="365760"/>
          </a:xfrm>
          <a:prstGeom prst="rect">
            <a:avLst/>
          </a:prstGeom>
          <a:noFill/>
          <a:ln/>
        </p:spPr>
        <p:txBody>
          <a:bodyPr wrap="square" lIns="0" tIns="0" rIns="0" bIns="0" rtlCol="0" anchor="t"/>
          <a:lstStyle/>
          <a:p>
            <a:pPr indent="0" marL="0">
              <a:buNone/>
            </a:pPr>
            <a:r>
              <a:rPr lang="en-US" sz="1400" dirty="0">
                <a:solidFill>
                  <a:schemeClr val="accent6"/>
                </a:solidFill>
              </a:rPr>
              <a:t>dist = lengths, prev = paths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Time and Space Complexity</a:t>
            </a:r>
            <a:endParaRPr lang="en-US" sz="3200" dirty="0"/>
          </a:p>
        </p:txBody>
      </p:sp>
      <p:sp>
        <p:nvSpPr>
          <p:cNvPr id="4" name="Shape 1"/>
          <p:cNvSpPr/>
          <p:nvPr/>
        </p:nvSpPr>
        <p:spPr>
          <a:xfrm>
            <a:off x="457200" y="1188720"/>
            <a:ext cx="2651760" cy="2651760"/>
          </a:xfrm>
          <a:prstGeom prst="roundRect">
            <a:avLst>
              <a:gd name="adj" fmla="val 4138"/>
            </a:avLst>
          </a:prstGeom>
          <a:solidFill>
            <a:srgbClr val="EAF2FF"/>
          </a:solidFill>
          <a:ln/>
        </p:spPr>
      </p:sp>
      <p:sp>
        <p:nvSpPr>
          <p:cNvPr id="5" name="Text 2"/>
          <p:cNvSpPr txBox="1"/>
          <p:nvPr/>
        </p:nvSpPr>
        <p:spPr>
          <a:xfrm>
            <a:off x="640080" y="1371600"/>
            <a:ext cx="2286000" cy="502920"/>
          </a:xfrm>
          <a:prstGeom prst="rect">
            <a:avLst/>
          </a:prstGeom>
          <a:noFill/>
          <a:ln/>
        </p:spPr>
        <p:txBody>
          <a:bodyPr wrap="square" lIns="0" tIns="0" rIns="0" bIns="0" rtlCol="0" anchor="t"/>
          <a:lstStyle/>
          <a:p>
            <a:pPr indent="0" marL="0">
              <a:buNone/>
            </a:pPr>
            <a:r>
              <a:rPr lang="en-US" sz="1300" b="1" dirty="0">
                <a:solidFill>
                  <a:schemeClr val="accent1"/>
                </a:solidFill>
              </a:rPr>
              <a:t>Time: array / matrix</a:t>
            </a:r>
            <a:endParaRPr lang="en-US" sz="1300" dirty="0"/>
          </a:p>
        </p:txBody>
      </p:sp>
      <p:sp>
        <p:nvSpPr>
          <p:cNvPr id="6" name="Text 3"/>
          <p:cNvSpPr txBox="1"/>
          <p:nvPr/>
        </p:nvSpPr>
        <p:spPr>
          <a:xfrm>
            <a:off x="640080" y="1965960"/>
            <a:ext cx="2331720" cy="502920"/>
          </a:xfrm>
          <a:prstGeom prst="rect">
            <a:avLst/>
          </a:prstGeom>
          <a:noFill/>
          <a:ln/>
        </p:spPr>
        <p:txBody>
          <a:bodyPr wrap="square" lIns="0" tIns="0" rIns="0" bIns="0" rtlCol="0" anchor="t"/>
          <a:lstStyle/>
          <a:p>
            <a:pPr indent="0" marL="0">
              <a:buNone/>
            </a:pPr>
            <a:r>
              <a:rPr lang="en-US" sz="2200" b="1" dirty="0">
                <a:solidFill>
                  <a:schemeClr val="tx1"/>
                </a:solidFill>
              </a:rPr>
              <a:t>O(V²)</a:t>
            </a:r>
            <a:endParaRPr lang="en-US" sz="2200" dirty="0"/>
          </a:p>
        </p:txBody>
      </p:sp>
      <p:sp>
        <p:nvSpPr>
          <p:cNvPr id="7" name="Text 4"/>
          <p:cNvSpPr txBox="1"/>
          <p:nvPr/>
        </p:nvSpPr>
        <p:spPr>
          <a:xfrm>
            <a:off x="640080" y="2606040"/>
            <a:ext cx="2286000" cy="1097280"/>
          </a:xfrm>
          <a:prstGeom prst="rect">
            <a:avLst/>
          </a:prstGeom>
          <a:noFill/>
          <a:ln/>
        </p:spPr>
        <p:txBody>
          <a:bodyPr wrap="square" lIns="0" tIns="0" rIns="0" bIns="0" rtlCol="0" anchor="t"/>
          <a:lstStyle/>
          <a:p>
            <a:pPr indent="0" marL="0">
              <a:buNone/>
            </a:pPr>
            <a:r>
              <a:rPr lang="en-US" sz="1300" dirty="0">
                <a:solidFill>
                  <a:schemeClr val="accent6"/>
                </a:solidFill>
              </a:rPr>
              <a:t>V rounds, each scanning up to V vertices for the minimum</a:t>
            </a:r>
            <a:endParaRPr lang="en-US" sz="1300" dirty="0"/>
          </a:p>
        </p:txBody>
      </p:sp>
      <p:sp>
        <p:nvSpPr>
          <p:cNvPr id="8" name="Shape 5"/>
          <p:cNvSpPr/>
          <p:nvPr/>
        </p:nvSpPr>
        <p:spPr>
          <a:xfrm>
            <a:off x="3246120" y="1188720"/>
            <a:ext cx="2651760" cy="2651760"/>
          </a:xfrm>
          <a:prstGeom prst="roundRect">
            <a:avLst>
              <a:gd name="adj" fmla="val 4138"/>
            </a:avLst>
          </a:prstGeom>
          <a:solidFill>
            <a:srgbClr val="0B1B3A"/>
          </a:solidFill>
          <a:ln/>
        </p:spPr>
      </p:sp>
      <p:sp>
        <p:nvSpPr>
          <p:cNvPr id="9" name="Text 6"/>
          <p:cNvSpPr txBox="1"/>
          <p:nvPr/>
        </p:nvSpPr>
        <p:spPr>
          <a:xfrm>
            <a:off x="3429000" y="1371600"/>
            <a:ext cx="2286000" cy="502920"/>
          </a:xfrm>
          <a:prstGeom prst="rect">
            <a:avLst/>
          </a:prstGeom>
          <a:noFill/>
          <a:ln/>
        </p:spPr>
        <p:txBody>
          <a:bodyPr wrap="square" lIns="0" tIns="0" rIns="0" bIns="0" rtlCol="0" anchor="t"/>
          <a:lstStyle/>
          <a:p>
            <a:pPr indent="0" marL="0">
              <a:buNone/>
            </a:pPr>
            <a:r>
              <a:rPr lang="en-US" sz="1300" b="1" dirty="0">
                <a:solidFill>
                  <a:schemeClr val="accent2"/>
                </a:solidFill>
              </a:rPr>
              <a:t>Time: adjacency list + min-heap</a:t>
            </a:r>
            <a:endParaRPr lang="en-US" sz="1300" dirty="0"/>
          </a:p>
        </p:txBody>
      </p:sp>
      <p:sp>
        <p:nvSpPr>
          <p:cNvPr id="10" name="Text 7"/>
          <p:cNvSpPr txBox="1"/>
          <p:nvPr/>
        </p:nvSpPr>
        <p:spPr>
          <a:xfrm>
            <a:off x="3429000" y="1965960"/>
            <a:ext cx="2331720" cy="502920"/>
          </a:xfrm>
          <a:prstGeom prst="rect">
            <a:avLst/>
          </a:prstGeom>
          <a:noFill/>
          <a:ln/>
        </p:spPr>
        <p:txBody>
          <a:bodyPr wrap="square" lIns="0" tIns="0" rIns="0" bIns="0" rtlCol="0" anchor="t"/>
          <a:lstStyle/>
          <a:p>
            <a:pPr indent="0" marL="0">
              <a:buNone/>
            </a:pPr>
            <a:r>
              <a:rPr lang="en-US" sz="2200" b="1" dirty="0">
                <a:solidFill>
                  <a:schemeClr val="bg1"/>
                </a:solidFill>
              </a:rPr>
              <a:t>O((V + E) log V)</a:t>
            </a:r>
            <a:endParaRPr lang="en-US" sz="2200" dirty="0"/>
          </a:p>
        </p:txBody>
      </p:sp>
      <p:sp>
        <p:nvSpPr>
          <p:cNvPr id="11" name="Text 8"/>
          <p:cNvSpPr txBox="1"/>
          <p:nvPr/>
        </p:nvSpPr>
        <p:spPr>
          <a:xfrm>
            <a:off x="3429000" y="2606040"/>
            <a:ext cx="2286000" cy="1097280"/>
          </a:xfrm>
          <a:prstGeom prst="rect">
            <a:avLst/>
          </a:prstGeom>
          <a:noFill/>
          <a:ln/>
        </p:spPr>
        <p:txBody>
          <a:bodyPr wrap="square" lIns="0" tIns="0" rIns="0" bIns="0" rtlCol="0" anchor="t"/>
          <a:lstStyle/>
          <a:p>
            <a:pPr indent="0" marL="0">
              <a:buNone/>
            </a:pPr>
            <a:r>
              <a:rPr lang="en-US" sz="1300" dirty="0">
                <a:solidFill>
                  <a:srgbClr val="CADCFC"/>
                </a:solidFill>
              </a:rPr>
              <a:t>Each heap operation costs O(log V), done for V picks and up to E updates</a:t>
            </a:r>
            <a:endParaRPr lang="en-US" sz="1300" dirty="0"/>
          </a:p>
        </p:txBody>
      </p:sp>
      <p:sp>
        <p:nvSpPr>
          <p:cNvPr id="12" name="Shape 9"/>
          <p:cNvSpPr/>
          <p:nvPr/>
        </p:nvSpPr>
        <p:spPr>
          <a:xfrm>
            <a:off x="6035040" y="1188720"/>
            <a:ext cx="2651760" cy="2651760"/>
          </a:xfrm>
          <a:prstGeom prst="roundRect">
            <a:avLst>
              <a:gd name="adj" fmla="val 4138"/>
            </a:avLst>
          </a:prstGeom>
          <a:solidFill>
            <a:srgbClr val="EAF2FF"/>
          </a:solidFill>
          <a:ln/>
        </p:spPr>
      </p:sp>
      <p:sp>
        <p:nvSpPr>
          <p:cNvPr id="13" name="Text 10"/>
          <p:cNvSpPr txBox="1"/>
          <p:nvPr/>
        </p:nvSpPr>
        <p:spPr>
          <a:xfrm>
            <a:off x="6217920" y="1371600"/>
            <a:ext cx="2286000" cy="502920"/>
          </a:xfrm>
          <a:prstGeom prst="rect">
            <a:avLst/>
          </a:prstGeom>
          <a:noFill/>
          <a:ln/>
        </p:spPr>
        <p:txBody>
          <a:bodyPr wrap="square" lIns="0" tIns="0" rIns="0" bIns="0" rtlCol="0" anchor="t"/>
          <a:lstStyle/>
          <a:p>
            <a:pPr indent="0" marL="0">
              <a:buNone/>
            </a:pPr>
            <a:r>
              <a:rPr lang="en-US" sz="1300" b="1" dirty="0">
                <a:solidFill>
                  <a:schemeClr val="accent1"/>
                </a:solidFill>
              </a:rPr>
              <a:t>Space: adjacency list</a:t>
            </a:r>
            <a:endParaRPr lang="en-US" sz="1300" dirty="0"/>
          </a:p>
        </p:txBody>
      </p:sp>
      <p:sp>
        <p:nvSpPr>
          <p:cNvPr id="14" name="Text 11"/>
          <p:cNvSpPr txBox="1"/>
          <p:nvPr/>
        </p:nvSpPr>
        <p:spPr>
          <a:xfrm>
            <a:off x="6217920" y="1965960"/>
            <a:ext cx="2331720" cy="502920"/>
          </a:xfrm>
          <a:prstGeom prst="rect">
            <a:avLst/>
          </a:prstGeom>
          <a:noFill/>
          <a:ln/>
        </p:spPr>
        <p:txBody>
          <a:bodyPr wrap="square" lIns="0" tIns="0" rIns="0" bIns="0" rtlCol="0" anchor="t"/>
          <a:lstStyle/>
          <a:p>
            <a:pPr indent="0" marL="0">
              <a:buNone/>
            </a:pPr>
            <a:r>
              <a:rPr lang="en-US" sz="2200" b="1" dirty="0">
                <a:solidFill>
                  <a:schemeClr val="tx1"/>
                </a:solidFill>
              </a:rPr>
              <a:t>O(V + E)</a:t>
            </a:r>
            <a:endParaRPr lang="en-US" sz="2200" dirty="0"/>
          </a:p>
        </p:txBody>
      </p:sp>
      <p:sp>
        <p:nvSpPr>
          <p:cNvPr id="15" name="Text 12"/>
          <p:cNvSpPr txBox="1"/>
          <p:nvPr/>
        </p:nvSpPr>
        <p:spPr>
          <a:xfrm>
            <a:off x="6217920" y="2606040"/>
            <a:ext cx="2286000" cy="1097280"/>
          </a:xfrm>
          <a:prstGeom prst="rect">
            <a:avLst/>
          </a:prstGeom>
          <a:noFill/>
          <a:ln/>
        </p:spPr>
        <p:txBody>
          <a:bodyPr wrap="square" lIns="0" tIns="0" rIns="0" bIns="0" rtlCol="0" anchor="t"/>
          <a:lstStyle/>
          <a:p>
            <a:pPr indent="0" marL="0">
              <a:buNone/>
            </a:pPr>
            <a:r>
              <a:rPr lang="en-US" sz="1300" dirty="0">
                <a:solidFill>
                  <a:schemeClr val="accent6"/>
                </a:solidFill>
              </a:rPr>
              <a:t>Store every vertex and edge once, plus dist[ ] and prev[ ]</a:t>
            </a:r>
            <a:endParaRPr lang="en-US" sz="1300" dirty="0"/>
          </a:p>
        </p:txBody>
      </p:sp>
      <p:sp>
        <p:nvSpPr>
          <p:cNvPr id="16" name="Shape 13"/>
          <p:cNvSpPr/>
          <p:nvPr/>
        </p:nvSpPr>
        <p:spPr>
          <a:xfrm>
            <a:off x="457200" y="4023360"/>
            <a:ext cx="8229600" cy="594360"/>
          </a:xfrm>
          <a:prstGeom prst="roundRect">
            <a:avLst>
              <a:gd name="adj" fmla="val 18462"/>
            </a:avLst>
          </a:prstGeom>
          <a:solidFill>
            <a:srgbClr val="2F80ED"/>
          </a:solidFill>
          <a:ln/>
        </p:spPr>
      </p:sp>
      <p:sp>
        <p:nvSpPr>
          <p:cNvPr id="17" name="Text 14"/>
          <p:cNvSpPr txBox="1"/>
          <p:nvPr/>
        </p:nvSpPr>
        <p:spPr>
          <a:xfrm>
            <a:off x="685800" y="4023360"/>
            <a:ext cx="7772400" cy="594360"/>
          </a:xfrm>
          <a:prstGeom prst="rect">
            <a:avLst/>
          </a:prstGeom>
          <a:noFill/>
          <a:ln/>
        </p:spPr>
        <p:txBody>
          <a:bodyPr wrap="square" lIns="0" tIns="0" rIns="0" bIns="0" rtlCol="0" anchor="ctr"/>
          <a:lstStyle/>
          <a:p>
            <a:pPr indent="0" marL="0">
              <a:buNone/>
            </a:pPr>
            <a:r>
              <a:rPr lang="en-US" sz="1600" b="1" dirty="0">
                <a:solidFill>
                  <a:schemeClr val="bg1"/>
                </a:solidFill>
              </a:rPr>
              <a:t>V = number of vertices     E = number of edges</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Real-World Applications</a:t>
            </a:r>
            <a:endParaRPr lang="en-US" sz="3200" dirty="0"/>
          </a:p>
        </p:txBody>
      </p:sp>
      <p:sp>
        <p:nvSpPr>
          <p:cNvPr id="4" name="Shape 1"/>
          <p:cNvSpPr/>
          <p:nvPr/>
        </p:nvSpPr>
        <p:spPr>
          <a:xfrm>
            <a:off x="457200" y="1188720"/>
            <a:ext cx="2651760" cy="1600200"/>
          </a:xfrm>
          <a:prstGeom prst="roundRect">
            <a:avLst>
              <a:gd name="adj" fmla="val 6857"/>
            </a:avLst>
          </a:prstGeom>
          <a:solidFill>
            <a:srgbClr val="EAF2FF"/>
          </a:solidFill>
          <a:ln/>
        </p:spPr>
      </p:sp>
      <p:sp>
        <p:nvSpPr>
          <p:cNvPr id="5" name="Shape 2"/>
          <p:cNvSpPr/>
          <p:nvPr/>
        </p:nvSpPr>
        <p:spPr>
          <a:xfrm>
            <a:off x="640080" y="1371600"/>
            <a:ext cx="594360" cy="59436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95528" y="1527048"/>
            <a:ext cx="283464" cy="283464"/>
          </a:xfrm>
          <a:prstGeom prst="rect">
            <a:avLst/>
          </a:prstGeom>
        </p:spPr>
      </p:pic>
      <p:sp>
        <p:nvSpPr>
          <p:cNvPr id="7" name="Text 3"/>
          <p:cNvSpPr txBox="1"/>
          <p:nvPr/>
        </p:nvSpPr>
        <p:spPr>
          <a:xfrm>
            <a:off x="1417320" y="1371600"/>
            <a:ext cx="1554480" cy="594360"/>
          </a:xfrm>
          <a:prstGeom prst="rect">
            <a:avLst/>
          </a:prstGeom>
          <a:noFill/>
          <a:ln/>
        </p:spPr>
        <p:txBody>
          <a:bodyPr wrap="square" lIns="0" tIns="0" rIns="0" bIns="0" rtlCol="0" anchor="ctr"/>
          <a:lstStyle/>
          <a:p>
            <a:pPr indent="0" marL="0">
              <a:buNone/>
            </a:pPr>
            <a:r>
              <a:rPr lang="en-US" sz="1500" b="1" dirty="0">
                <a:solidFill>
                  <a:schemeClr val="tx1"/>
                </a:solidFill>
              </a:rPr>
              <a:t>GPS navigation</a:t>
            </a:r>
            <a:endParaRPr lang="en-US" sz="1500" dirty="0"/>
          </a:p>
        </p:txBody>
      </p:sp>
      <p:sp>
        <p:nvSpPr>
          <p:cNvPr id="8" name="Text 4"/>
          <p:cNvSpPr txBox="1"/>
          <p:nvPr/>
        </p:nvSpPr>
        <p:spPr>
          <a:xfrm>
            <a:off x="640080" y="2103120"/>
            <a:ext cx="2286000" cy="594360"/>
          </a:xfrm>
          <a:prstGeom prst="rect">
            <a:avLst/>
          </a:prstGeom>
          <a:noFill/>
          <a:ln/>
        </p:spPr>
        <p:txBody>
          <a:bodyPr wrap="square" lIns="0" tIns="0" rIns="0" bIns="0" rtlCol="0" anchor="t"/>
          <a:lstStyle/>
          <a:p>
            <a:pPr indent="0" marL="0">
              <a:buNone/>
            </a:pPr>
            <a:r>
              <a:rPr lang="en-US" sz="1300" dirty="0">
                <a:solidFill>
                  <a:schemeClr val="accent6"/>
                </a:solidFill>
              </a:rPr>
              <a:t>Finds the fastest route between two places on a road map</a:t>
            </a:r>
            <a:endParaRPr lang="en-US" sz="1300" dirty="0"/>
          </a:p>
        </p:txBody>
      </p:sp>
      <p:sp>
        <p:nvSpPr>
          <p:cNvPr id="9" name="Shape 5"/>
          <p:cNvSpPr/>
          <p:nvPr/>
        </p:nvSpPr>
        <p:spPr>
          <a:xfrm>
            <a:off x="3246120" y="1188720"/>
            <a:ext cx="2651760" cy="1600200"/>
          </a:xfrm>
          <a:prstGeom prst="roundRect">
            <a:avLst>
              <a:gd name="adj" fmla="val 6857"/>
            </a:avLst>
          </a:prstGeom>
          <a:solidFill>
            <a:srgbClr val="EAF2FF"/>
          </a:solidFill>
          <a:ln/>
        </p:spPr>
      </p:sp>
      <p:sp>
        <p:nvSpPr>
          <p:cNvPr id="10" name="Shape 6"/>
          <p:cNvSpPr/>
          <p:nvPr/>
        </p:nvSpPr>
        <p:spPr>
          <a:xfrm>
            <a:off x="3429000" y="1371600"/>
            <a:ext cx="594360" cy="59436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584448" y="1527048"/>
            <a:ext cx="283464" cy="283464"/>
          </a:xfrm>
          <a:prstGeom prst="rect">
            <a:avLst/>
          </a:prstGeom>
        </p:spPr>
      </p:pic>
      <p:sp>
        <p:nvSpPr>
          <p:cNvPr id="12" name="Text 7"/>
          <p:cNvSpPr txBox="1"/>
          <p:nvPr/>
        </p:nvSpPr>
        <p:spPr>
          <a:xfrm>
            <a:off x="4206240" y="1371600"/>
            <a:ext cx="1554480" cy="594360"/>
          </a:xfrm>
          <a:prstGeom prst="rect">
            <a:avLst/>
          </a:prstGeom>
          <a:noFill/>
          <a:ln/>
        </p:spPr>
        <p:txBody>
          <a:bodyPr wrap="square" lIns="0" tIns="0" rIns="0" bIns="0" rtlCol="0" anchor="ctr"/>
          <a:lstStyle/>
          <a:p>
            <a:pPr indent="0" marL="0">
              <a:buNone/>
            </a:pPr>
            <a:r>
              <a:rPr lang="en-US" sz="1500" b="1" dirty="0">
                <a:solidFill>
                  <a:schemeClr val="tx1"/>
                </a:solidFill>
              </a:rPr>
              <a:t>Computer networks</a:t>
            </a:r>
            <a:endParaRPr lang="en-US" sz="1500" dirty="0"/>
          </a:p>
        </p:txBody>
      </p:sp>
      <p:sp>
        <p:nvSpPr>
          <p:cNvPr id="13" name="Text 8"/>
          <p:cNvSpPr txBox="1"/>
          <p:nvPr/>
        </p:nvSpPr>
        <p:spPr>
          <a:xfrm>
            <a:off x="3429000" y="2103120"/>
            <a:ext cx="2286000" cy="594360"/>
          </a:xfrm>
          <a:prstGeom prst="rect">
            <a:avLst/>
          </a:prstGeom>
          <a:noFill/>
          <a:ln/>
        </p:spPr>
        <p:txBody>
          <a:bodyPr wrap="square" lIns="0" tIns="0" rIns="0" bIns="0" rtlCol="0" anchor="t"/>
          <a:lstStyle/>
          <a:p>
            <a:pPr indent="0" marL="0">
              <a:buNone/>
            </a:pPr>
            <a:r>
              <a:rPr lang="en-US" sz="1300" dirty="0">
                <a:solidFill>
                  <a:schemeClr val="accent6"/>
                </a:solidFill>
              </a:rPr>
              <a:t>Chooses low-cost paths for data between devices</a:t>
            </a:r>
            <a:endParaRPr lang="en-US" sz="1300" dirty="0"/>
          </a:p>
        </p:txBody>
      </p:sp>
      <p:sp>
        <p:nvSpPr>
          <p:cNvPr id="14" name="Shape 9"/>
          <p:cNvSpPr/>
          <p:nvPr/>
        </p:nvSpPr>
        <p:spPr>
          <a:xfrm>
            <a:off x="6035040" y="1188720"/>
            <a:ext cx="2651760" cy="1600200"/>
          </a:xfrm>
          <a:prstGeom prst="roundRect">
            <a:avLst>
              <a:gd name="adj" fmla="val 6857"/>
            </a:avLst>
          </a:prstGeom>
          <a:solidFill>
            <a:srgbClr val="EAF2FF"/>
          </a:solidFill>
          <a:ln/>
        </p:spPr>
      </p:sp>
      <p:sp>
        <p:nvSpPr>
          <p:cNvPr id="15" name="Shape 10"/>
          <p:cNvSpPr/>
          <p:nvPr/>
        </p:nvSpPr>
        <p:spPr>
          <a:xfrm>
            <a:off x="6217920" y="1371600"/>
            <a:ext cx="594360" cy="59436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6373368" y="1527048"/>
            <a:ext cx="283464" cy="283464"/>
          </a:xfrm>
          <a:prstGeom prst="rect">
            <a:avLst/>
          </a:prstGeom>
        </p:spPr>
      </p:pic>
      <p:sp>
        <p:nvSpPr>
          <p:cNvPr id="17" name="Text 11"/>
          <p:cNvSpPr txBox="1"/>
          <p:nvPr/>
        </p:nvSpPr>
        <p:spPr>
          <a:xfrm>
            <a:off x="6995160" y="1371600"/>
            <a:ext cx="1554480" cy="594360"/>
          </a:xfrm>
          <a:prstGeom prst="rect">
            <a:avLst/>
          </a:prstGeom>
          <a:noFill/>
          <a:ln/>
        </p:spPr>
        <p:txBody>
          <a:bodyPr wrap="square" lIns="0" tIns="0" rIns="0" bIns="0" rtlCol="0" anchor="ctr"/>
          <a:lstStyle/>
          <a:p>
            <a:pPr indent="0" marL="0">
              <a:buNone/>
            </a:pPr>
            <a:r>
              <a:rPr lang="en-US" sz="1500" b="1" dirty="0">
                <a:solidFill>
                  <a:schemeClr val="tx1"/>
                </a:solidFill>
              </a:rPr>
              <a:t>Internet routing</a:t>
            </a:r>
            <a:endParaRPr lang="en-US" sz="1500" dirty="0"/>
          </a:p>
        </p:txBody>
      </p:sp>
      <p:sp>
        <p:nvSpPr>
          <p:cNvPr id="18" name="Text 12"/>
          <p:cNvSpPr txBox="1"/>
          <p:nvPr/>
        </p:nvSpPr>
        <p:spPr>
          <a:xfrm>
            <a:off x="6217920" y="2103120"/>
            <a:ext cx="2286000" cy="594360"/>
          </a:xfrm>
          <a:prstGeom prst="rect">
            <a:avLst/>
          </a:prstGeom>
          <a:noFill/>
          <a:ln/>
        </p:spPr>
        <p:txBody>
          <a:bodyPr wrap="square" lIns="0" tIns="0" rIns="0" bIns="0" rtlCol="0" anchor="t"/>
          <a:lstStyle/>
          <a:p>
            <a:pPr indent="0" marL="0">
              <a:buNone/>
            </a:pPr>
            <a:r>
              <a:rPr lang="en-US" sz="1300" dirty="0">
                <a:solidFill>
                  <a:schemeClr val="accent6"/>
                </a:solidFill>
              </a:rPr>
              <a:t>Link-state protocols such as OSPF run it on link costs</a:t>
            </a:r>
            <a:endParaRPr lang="en-US" sz="1300" dirty="0"/>
          </a:p>
        </p:txBody>
      </p:sp>
      <p:sp>
        <p:nvSpPr>
          <p:cNvPr id="19" name="Shape 13"/>
          <p:cNvSpPr/>
          <p:nvPr/>
        </p:nvSpPr>
        <p:spPr>
          <a:xfrm>
            <a:off x="457200" y="2971800"/>
            <a:ext cx="4046220" cy="1600200"/>
          </a:xfrm>
          <a:prstGeom prst="roundRect">
            <a:avLst>
              <a:gd name="adj" fmla="val 6857"/>
            </a:avLst>
          </a:prstGeom>
          <a:solidFill>
            <a:srgbClr val="EAF2FF"/>
          </a:solidFill>
          <a:ln/>
        </p:spPr>
      </p:sp>
      <p:sp>
        <p:nvSpPr>
          <p:cNvPr id="20" name="Shape 14"/>
          <p:cNvSpPr/>
          <p:nvPr/>
        </p:nvSpPr>
        <p:spPr>
          <a:xfrm>
            <a:off x="640080" y="3154680"/>
            <a:ext cx="594360" cy="59436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795528" y="3310128"/>
            <a:ext cx="283464" cy="283464"/>
          </a:xfrm>
          <a:prstGeom prst="rect">
            <a:avLst/>
          </a:prstGeom>
        </p:spPr>
      </p:pic>
      <p:sp>
        <p:nvSpPr>
          <p:cNvPr id="22" name="Text 15"/>
          <p:cNvSpPr txBox="1"/>
          <p:nvPr/>
        </p:nvSpPr>
        <p:spPr>
          <a:xfrm>
            <a:off x="1417320" y="3154680"/>
            <a:ext cx="2948940" cy="594360"/>
          </a:xfrm>
          <a:prstGeom prst="rect">
            <a:avLst/>
          </a:prstGeom>
          <a:noFill/>
          <a:ln/>
        </p:spPr>
        <p:txBody>
          <a:bodyPr wrap="square" lIns="0" tIns="0" rIns="0" bIns="0" rtlCol="0" anchor="ctr"/>
          <a:lstStyle/>
          <a:p>
            <a:pPr indent="0" marL="0">
              <a:buNone/>
            </a:pPr>
            <a:r>
              <a:rPr lang="en-US" sz="1500" b="1" dirty="0">
                <a:solidFill>
                  <a:schemeClr val="tx1"/>
                </a:solidFill>
              </a:rPr>
              <a:t>Transportation systems</a:t>
            </a:r>
            <a:endParaRPr lang="en-US" sz="1500" dirty="0"/>
          </a:p>
        </p:txBody>
      </p:sp>
      <p:sp>
        <p:nvSpPr>
          <p:cNvPr id="23" name="Text 16"/>
          <p:cNvSpPr txBox="1"/>
          <p:nvPr/>
        </p:nvSpPr>
        <p:spPr>
          <a:xfrm>
            <a:off x="640080" y="3886200"/>
            <a:ext cx="3680460" cy="594360"/>
          </a:xfrm>
          <a:prstGeom prst="rect">
            <a:avLst/>
          </a:prstGeom>
          <a:noFill/>
          <a:ln/>
        </p:spPr>
        <p:txBody>
          <a:bodyPr wrap="square" lIns="0" tIns="0" rIns="0" bIns="0" rtlCol="0" anchor="t"/>
          <a:lstStyle/>
          <a:p>
            <a:pPr indent="0" marL="0">
              <a:buNone/>
            </a:pPr>
            <a:r>
              <a:rPr lang="en-US" sz="1300" dirty="0">
                <a:solidFill>
                  <a:schemeClr val="accent6"/>
                </a:solidFill>
              </a:rPr>
              <a:t>Plans bus, rail and flight routes with least time or cost</a:t>
            </a:r>
            <a:endParaRPr lang="en-US" sz="1300" dirty="0"/>
          </a:p>
        </p:txBody>
      </p:sp>
      <p:sp>
        <p:nvSpPr>
          <p:cNvPr id="24" name="Shape 17"/>
          <p:cNvSpPr/>
          <p:nvPr/>
        </p:nvSpPr>
        <p:spPr>
          <a:xfrm>
            <a:off x="4640580" y="2971800"/>
            <a:ext cx="4046220" cy="1600200"/>
          </a:xfrm>
          <a:prstGeom prst="roundRect">
            <a:avLst>
              <a:gd name="adj" fmla="val 6857"/>
            </a:avLst>
          </a:prstGeom>
          <a:solidFill>
            <a:srgbClr val="EAF2FF"/>
          </a:solidFill>
          <a:ln/>
        </p:spPr>
      </p:sp>
      <p:sp>
        <p:nvSpPr>
          <p:cNvPr id="25" name="Shape 18"/>
          <p:cNvSpPr/>
          <p:nvPr/>
        </p:nvSpPr>
        <p:spPr>
          <a:xfrm>
            <a:off x="4823460" y="3154680"/>
            <a:ext cx="594360" cy="59436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4978908" y="3310128"/>
            <a:ext cx="283464" cy="283464"/>
          </a:xfrm>
          <a:prstGeom prst="rect">
            <a:avLst/>
          </a:prstGeom>
        </p:spPr>
      </p:pic>
      <p:sp>
        <p:nvSpPr>
          <p:cNvPr id="27" name="Text 19"/>
          <p:cNvSpPr txBox="1"/>
          <p:nvPr/>
        </p:nvSpPr>
        <p:spPr>
          <a:xfrm>
            <a:off x="5600700" y="3154680"/>
            <a:ext cx="2948940" cy="594360"/>
          </a:xfrm>
          <a:prstGeom prst="rect">
            <a:avLst/>
          </a:prstGeom>
          <a:noFill/>
          <a:ln/>
        </p:spPr>
        <p:txBody>
          <a:bodyPr wrap="square" lIns="0" tIns="0" rIns="0" bIns="0" rtlCol="0" anchor="ctr"/>
          <a:lstStyle/>
          <a:p>
            <a:pPr indent="0" marL="0">
              <a:buNone/>
            </a:pPr>
            <a:r>
              <a:rPr lang="en-US" sz="1500" b="1" dirty="0">
                <a:solidFill>
                  <a:schemeClr val="tx1"/>
                </a:solidFill>
              </a:rPr>
              <a:t>Robotics and path planning</a:t>
            </a:r>
            <a:endParaRPr lang="en-US" sz="1500" dirty="0"/>
          </a:p>
        </p:txBody>
      </p:sp>
      <p:sp>
        <p:nvSpPr>
          <p:cNvPr id="28" name="Text 20"/>
          <p:cNvSpPr txBox="1"/>
          <p:nvPr/>
        </p:nvSpPr>
        <p:spPr>
          <a:xfrm>
            <a:off x="4823460" y="3886200"/>
            <a:ext cx="3680460" cy="594360"/>
          </a:xfrm>
          <a:prstGeom prst="rect">
            <a:avLst/>
          </a:prstGeom>
          <a:noFill/>
          <a:ln/>
        </p:spPr>
        <p:txBody>
          <a:bodyPr wrap="square" lIns="0" tIns="0" rIns="0" bIns="0" rtlCol="0" anchor="t"/>
          <a:lstStyle/>
          <a:p>
            <a:pPr indent="0" marL="0">
              <a:buNone/>
            </a:pPr>
            <a:r>
              <a:rPr lang="en-US" sz="1300" dirty="0">
                <a:solidFill>
                  <a:schemeClr val="accent6"/>
                </a:solidFill>
              </a:rPr>
              <a:t>Finds collision-free paths across grids and maps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Advantages and Limitations</a:t>
            </a:r>
            <a:endParaRPr lang="en-US" sz="3200" dirty="0"/>
          </a:p>
        </p:txBody>
      </p:sp>
      <p:sp>
        <p:nvSpPr>
          <p:cNvPr id="4" name="Shape 1"/>
          <p:cNvSpPr/>
          <p:nvPr/>
        </p:nvSpPr>
        <p:spPr>
          <a:xfrm>
            <a:off x="457200" y="1188720"/>
            <a:ext cx="4023360" cy="2606040"/>
          </a:xfrm>
          <a:prstGeom prst="roundRect">
            <a:avLst>
              <a:gd name="adj" fmla="val 4211"/>
            </a:avLst>
          </a:prstGeom>
          <a:solidFill>
            <a:srgbClr val="EAF2FF"/>
          </a:solidFill>
          <a:ln/>
        </p:spPr>
      </p:sp>
      <p:sp>
        <p:nvSpPr>
          <p:cNvPr id="5" name="Shape 2"/>
          <p:cNvSpPr/>
          <p:nvPr/>
        </p:nvSpPr>
        <p:spPr>
          <a:xfrm>
            <a:off x="4663440" y="1188720"/>
            <a:ext cx="4023360" cy="2606040"/>
          </a:xfrm>
          <a:prstGeom prst="roundRect">
            <a:avLst>
              <a:gd name="adj" fmla="val 4211"/>
            </a:avLst>
          </a:prstGeom>
          <a:solidFill>
            <a:srgbClr val="FFF4DB"/>
          </a:solidFill>
          <a:ln/>
        </p:spPr>
      </p:sp>
      <p:sp>
        <p:nvSpPr>
          <p:cNvPr id="6" name="Text 3"/>
          <p:cNvSpPr txBox="1"/>
          <p:nvPr/>
        </p:nvSpPr>
        <p:spPr>
          <a:xfrm>
            <a:off x="640080" y="1325880"/>
            <a:ext cx="457200" cy="457200"/>
          </a:xfrm>
          <a:prstGeom prst="ellipse">
            <a:avLst/>
          </a:prstGeom>
          <a:solidFill>
            <a:schemeClr val="accent4"/>
          </a:solidFill>
          <a:ln w="25400">
            <a:solidFill>
              <a:schemeClr val="accent4"/>
            </a:solidFill>
          </a:ln>
        </p:spPr>
        <p:txBody>
          <a:bodyPr wrap="square" lIns="0" tIns="0" rIns="0" bIns="0" rtlCol="0" anchor="ctr"/>
          <a:lstStyle/>
          <a:p>
            <a:pPr algn="ctr" indent="0" marL="0">
              <a:buNone/>
            </a:pPr>
            <a:endParaRPr lang="en-US" sz="1200" dirty="0"/>
          </a:p>
        </p:txBody>
      </p:sp>
      <p:pic>
        <p:nvPicPr>
          <p:cNvPr id="7" name="Image 0" descr="preencoded.png">    </p:cNvPr>
          <p:cNvPicPr>
            <a:picLocks noChangeAspect="1"/>
          </p:cNvPicPr>
          <p:nvPr/>
        </p:nvPicPr>
        <p:blipFill>
          <a:blip r:embed="rId1"/>
          <a:stretch>
            <a:fillRect/>
          </a:stretch>
        </p:blipFill>
        <p:spPr>
          <a:xfrm>
            <a:off x="749808" y="1435608"/>
            <a:ext cx="237744" cy="237744"/>
          </a:xfrm>
          <a:prstGeom prst="rect">
            <a:avLst/>
          </a:prstGeom>
        </p:spPr>
      </p:pic>
      <p:sp>
        <p:nvSpPr>
          <p:cNvPr id="8" name="Text 4"/>
          <p:cNvSpPr txBox="1"/>
          <p:nvPr/>
        </p:nvSpPr>
        <p:spPr>
          <a:xfrm>
            <a:off x="4846320" y="1325880"/>
            <a:ext cx="457200" cy="457200"/>
          </a:xfrm>
          <a:prstGeom prst="ellipse">
            <a:avLst/>
          </a:prstGeom>
          <a:solidFill>
            <a:schemeClr val="accent3"/>
          </a:solidFill>
          <a:ln w="25400">
            <a:solidFill>
              <a:schemeClr val="accent3"/>
            </a:solidFill>
          </a:ln>
        </p:spPr>
        <p:txBody>
          <a:bodyPr wrap="square" lIns="0" tIns="0" rIns="0" bIns="0" rtlCol="0" anchor="ctr"/>
          <a:lstStyle/>
          <a:p>
            <a:pPr algn="ctr" indent="0" marL="0">
              <a:buNone/>
            </a:pPr>
            <a:endParaRPr lang="en-US" sz="1200" dirty="0"/>
          </a:p>
        </p:txBody>
      </p:sp>
      <p:pic>
        <p:nvPicPr>
          <p:cNvPr id="9" name="Image 1" descr="preencoded.png">    </p:cNvPr>
          <p:cNvPicPr>
            <a:picLocks noChangeAspect="1"/>
          </p:cNvPicPr>
          <p:nvPr/>
        </p:nvPicPr>
        <p:blipFill>
          <a:blip r:embed="rId2"/>
          <a:stretch>
            <a:fillRect/>
          </a:stretch>
        </p:blipFill>
        <p:spPr>
          <a:xfrm>
            <a:off x="4965192" y="1435608"/>
            <a:ext cx="219456" cy="237744"/>
          </a:xfrm>
          <a:prstGeom prst="rect">
            <a:avLst/>
          </a:prstGeom>
        </p:spPr>
      </p:pic>
      <p:sp>
        <p:nvSpPr>
          <p:cNvPr id="10" name="Text 5"/>
          <p:cNvSpPr txBox="1"/>
          <p:nvPr/>
        </p:nvSpPr>
        <p:spPr>
          <a:xfrm>
            <a:off x="1280160" y="1325880"/>
            <a:ext cx="3017520" cy="457200"/>
          </a:xfrm>
          <a:prstGeom prst="rect">
            <a:avLst/>
          </a:prstGeom>
          <a:noFill/>
          <a:ln/>
        </p:spPr>
        <p:txBody>
          <a:bodyPr wrap="square" lIns="0" tIns="0" rIns="0" bIns="0" rtlCol="0" anchor="ctr"/>
          <a:lstStyle/>
          <a:p>
            <a:pPr indent="0" marL="0">
              <a:buNone/>
            </a:pPr>
            <a:r>
              <a:rPr lang="en-US" sz="2000" b="1" dirty="0">
                <a:solidFill>
                  <a:schemeClr val="tx1"/>
                </a:solidFill>
              </a:rPr>
              <a:t>Advantages</a:t>
            </a:r>
            <a:endParaRPr lang="en-US" sz="2000" dirty="0"/>
          </a:p>
        </p:txBody>
      </p:sp>
      <p:sp>
        <p:nvSpPr>
          <p:cNvPr id="11" name="Text 6"/>
          <p:cNvSpPr txBox="1"/>
          <p:nvPr/>
        </p:nvSpPr>
        <p:spPr>
          <a:xfrm>
            <a:off x="5486400" y="1325880"/>
            <a:ext cx="3017520" cy="457200"/>
          </a:xfrm>
          <a:prstGeom prst="rect">
            <a:avLst/>
          </a:prstGeom>
          <a:noFill/>
          <a:ln/>
        </p:spPr>
        <p:txBody>
          <a:bodyPr wrap="square" lIns="0" tIns="0" rIns="0" bIns="0" rtlCol="0" anchor="ctr"/>
          <a:lstStyle/>
          <a:p>
            <a:pPr indent="0" marL="0">
              <a:buNone/>
            </a:pPr>
            <a:r>
              <a:rPr lang="en-US" sz="2000" b="1" dirty="0">
                <a:solidFill>
                  <a:schemeClr val="tx1"/>
                </a:solidFill>
              </a:rPr>
              <a:t>Limitations</a:t>
            </a:r>
            <a:endParaRPr lang="en-US" sz="2000" dirty="0"/>
          </a:p>
        </p:txBody>
      </p:sp>
      <p:sp>
        <p:nvSpPr>
          <p:cNvPr id="12" name="Text 7"/>
          <p:cNvSpPr txBox="1"/>
          <p:nvPr/>
        </p:nvSpPr>
        <p:spPr>
          <a:xfrm>
            <a:off x="685800" y="2011680"/>
            <a:ext cx="356616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Efficient for non-negative edge weights</a:t>
            </a:r>
            <a:endParaRPr lang="en-US" sz="1400" dirty="0"/>
          </a:p>
          <a:p>
            <a:pPr marL="342900" indent="-342900">
              <a:spcAft>
                <a:spcPts val="800"/>
              </a:spcAft>
              <a:buSzPct val="100000"/>
              <a:buChar char="•"/>
            </a:pPr>
            <a:r>
              <a:rPr lang="en-US" sz="1400" dirty="0">
                <a:solidFill>
                  <a:schemeClr val="tx1"/>
                </a:solidFill>
              </a:rPr>
              <a:t>Finds shortest paths from a single source</a:t>
            </a:r>
            <a:endParaRPr lang="en-US" sz="1400" dirty="0"/>
          </a:p>
          <a:p>
            <a:pPr marL="342900" indent="-342900">
              <a:spcAft>
                <a:spcPts val="800"/>
              </a:spcAft>
              <a:buSzPct val="100000"/>
              <a:buChar char="•"/>
            </a:pPr>
            <a:r>
              <a:rPr lang="en-US" sz="1400" dirty="0">
                <a:solidFill>
                  <a:schemeClr val="tx1"/>
                </a:solidFill>
              </a:rPr>
              <a:t>Can be optimized using a min-heap</a:t>
            </a:r>
            <a:endParaRPr lang="en-US" sz="1400" dirty="0"/>
          </a:p>
        </p:txBody>
      </p:sp>
      <p:sp>
        <p:nvSpPr>
          <p:cNvPr id="13" name="Text 8"/>
          <p:cNvSpPr txBox="1"/>
          <p:nvPr/>
        </p:nvSpPr>
        <p:spPr>
          <a:xfrm>
            <a:off x="4892040" y="2011680"/>
            <a:ext cx="3566160" cy="1691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Does not correctly handle negative edge weights in general</a:t>
            </a:r>
            <a:endParaRPr lang="en-US" sz="1400" dirty="0"/>
          </a:p>
          <a:p>
            <a:pPr marL="342900" indent="-342900">
              <a:spcAft>
                <a:spcPts val="800"/>
              </a:spcAft>
              <a:buSzPct val="100000"/>
              <a:buChar char="•"/>
            </a:pPr>
            <a:r>
              <a:rPr lang="en-US" sz="1400" dirty="0">
                <a:solidFill>
                  <a:schemeClr val="tx1"/>
                </a:solidFill>
              </a:rPr>
              <a:t>Bellman-Ford is the alternative for negative edges, provided no relevant negative cycle exists</a:t>
            </a:r>
            <a:endParaRPr lang="en-US" sz="1400" dirty="0"/>
          </a:p>
        </p:txBody>
      </p:sp>
      <p:sp>
        <p:nvSpPr>
          <p:cNvPr id="14" name="Shape 9"/>
          <p:cNvSpPr/>
          <p:nvPr/>
        </p:nvSpPr>
        <p:spPr>
          <a:xfrm>
            <a:off x="457200" y="3977640"/>
            <a:ext cx="8229600" cy="640080"/>
          </a:xfrm>
          <a:prstGeom prst="roundRect">
            <a:avLst>
              <a:gd name="adj" fmla="val 17143"/>
            </a:avLst>
          </a:prstGeom>
          <a:solidFill>
            <a:srgbClr val="0B1B3A"/>
          </a:solidFill>
          <a:ln/>
        </p:spPr>
      </p:sp>
      <p:sp>
        <p:nvSpPr>
          <p:cNvPr id="15" name="Text 10"/>
          <p:cNvSpPr txBox="1"/>
          <p:nvPr/>
        </p:nvSpPr>
        <p:spPr>
          <a:xfrm>
            <a:off x="685800" y="3977640"/>
            <a:ext cx="7772400" cy="640080"/>
          </a:xfrm>
          <a:prstGeom prst="rect">
            <a:avLst/>
          </a:prstGeom>
          <a:noFill/>
          <a:ln/>
        </p:spPr>
        <p:txBody>
          <a:bodyPr wrap="square" lIns="0" tIns="0" rIns="0" bIns="0" rtlCol="0" anchor="ctr"/>
          <a:lstStyle/>
          <a:p>
            <a:pPr indent="0" marL="0">
              <a:buNone/>
            </a:pPr>
            <a:r>
              <a:rPr lang="en-US" sz="1400" dirty="0">
                <a:solidFill>
                  <a:schemeClr val="bg1"/>
                </a:solidFill>
              </a:rPr>
              <a:t>Why negatives break it: a vertex is finalized when selected, but a later negative edge could still shorten its distance.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4" name="Shape 1"/>
          <p:cNvSpPr/>
          <p:nvPr/>
        </p:nvSpPr>
        <p:spPr>
          <a:xfrm>
            <a:off x="457200" y="1188720"/>
            <a:ext cx="4023360" cy="1325880"/>
          </a:xfrm>
          <a:prstGeom prst="roundRect">
            <a:avLst>
              <a:gd name="adj" fmla="val 8276"/>
            </a:avLst>
          </a:prstGeom>
          <a:solidFill>
            <a:srgbClr val="16305F"/>
          </a:solidFill>
          <a:ln/>
        </p:spPr>
      </p:sp>
      <p:sp>
        <p:nvSpPr>
          <p:cNvPr id="5" name="Text 2"/>
          <p:cNvSpPr txBox="1"/>
          <p:nvPr/>
        </p:nvSpPr>
        <p:spPr>
          <a:xfrm>
            <a:off x="685800" y="1371600"/>
            <a:ext cx="3566160" cy="274320"/>
          </a:xfrm>
          <a:prstGeom prst="rect">
            <a:avLst/>
          </a:prstGeom>
          <a:noFill/>
          <a:ln/>
        </p:spPr>
        <p:txBody>
          <a:bodyPr wrap="square" lIns="0" tIns="0" rIns="0" bIns="0" rtlCol="0" anchor="t"/>
          <a:lstStyle/>
          <a:p>
            <a:pPr indent="0" marL="0">
              <a:buNone/>
            </a:pPr>
            <a:r>
              <a:rPr lang="en-US" sz="1300" b="1" dirty="0">
                <a:solidFill>
                  <a:schemeClr val="accent2"/>
                </a:solidFill>
              </a:rPr>
              <a:t>GREEDY APPROACH</a:t>
            </a:r>
            <a:endParaRPr lang="en-US" sz="1300" dirty="0"/>
          </a:p>
        </p:txBody>
      </p:sp>
      <p:sp>
        <p:nvSpPr>
          <p:cNvPr id="6" name="Text 3"/>
          <p:cNvSpPr txBox="1"/>
          <p:nvPr/>
        </p:nvSpPr>
        <p:spPr>
          <a:xfrm>
            <a:off x="685800" y="1737360"/>
            <a:ext cx="3566160" cy="731520"/>
          </a:xfrm>
          <a:prstGeom prst="rect">
            <a:avLst/>
          </a:prstGeom>
          <a:noFill/>
          <a:ln/>
        </p:spPr>
        <p:txBody>
          <a:bodyPr wrap="square" lIns="0" tIns="0" rIns="0" bIns="0" rtlCol="0" anchor="t"/>
          <a:lstStyle/>
          <a:p>
            <a:pPr indent="0" marL="0">
              <a:buNone/>
            </a:pPr>
            <a:r>
              <a:rPr lang="en-US" sz="1600" dirty="0">
                <a:solidFill>
                  <a:schemeClr val="bg1"/>
                </a:solidFill>
              </a:rPr>
              <a:t>Always finalize the closest unvisited vertex, then relax its neighbours.</a:t>
            </a:r>
            <a:endParaRPr lang="en-US" sz="1600" dirty="0"/>
          </a:p>
        </p:txBody>
      </p:sp>
      <p:sp>
        <p:nvSpPr>
          <p:cNvPr id="7" name="Shape 4"/>
          <p:cNvSpPr/>
          <p:nvPr/>
        </p:nvSpPr>
        <p:spPr>
          <a:xfrm>
            <a:off x="4663440" y="1188720"/>
            <a:ext cx="4023360" cy="1325880"/>
          </a:xfrm>
          <a:prstGeom prst="roundRect">
            <a:avLst>
              <a:gd name="adj" fmla="val 8276"/>
            </a:avLst>
          </a:prstGeom>
          <a:solidFill>
            <a:srgbClr val="16305F"/>
          </a:solidFill>
          <a:ln/>
        </p:spPr>
      </p:sp>
      <p:sp>
        <p:nvSpPr>
          <p:cNvPr id="8" name="Text 5"/>
          <p:cNvSpPr txBox="1"/>
          <p:nvPr/>
        </p:nvSpPr>
        <p:spPr>
          <a:xfrm>
            <a:off x="4892040" y="1371600"/>
            <a:ext cx="3566160" cy="274320"/>
          </a:xfrm>
          <a:prstGeom prst="rect">
            <a:avLst/>
          </a:prstGeom>
          <a:noFill/>
          <a:ln/>
        </p:spPr>
        <p:txBody>
          <a:bodyPr wrap="square" lIns="0" tIns="0" rIns="0" bIns="0" rtlCol="0" anchor="t"/>
          <a:lstStyle/>
          <a:p>
            <a:pPr indent="0" marL="0">
              <a:buNone/>
            </a:pPr>
            <a:r>
              <a:rPr lang="en-US" sz="1300" b="1" dirty="0">
                <a:solidFill>
                  <a:schemeClr val="accent2"/>
                </a:solidFill>
              </a:rPr>
              <a:t>SHORTEST PATHS</a:t>
            </a:r>
            <a:endParaRPr lang="en-US" sz="1300" dirty="0"/>
          </a:p>
        </p:txBody>
      </p:sp>
      <p:sp>
        <p:nvSpPr>
          <p:cNvPr id="9" name="Text 6"/>
          <p:cNvSpPr txBox="1"/>
          <p:nvPr/>
        </p:nvSpPr>
        <p:spPr>
          <a:xfrm>
            <a:off x="4892040" y="1737360"/>
            <a:ext cx="3566160" cy="731520"/>
          </a:xfrm>
          <a:prstGeom prst="rect">
            <a:avLst/>
          </a:prstGeom>
          <a:noFill/>
          <a:ln/>
        </p:spPr>
        <p:txBody>
          <a:bodyPr wrap="square" lIns="0" tIns="0" rIns="0" bIns="0" rtlCol="0" anchor="t"/>
          <a:lstStyle/>
          <a:p>
            <a:pPr indent="0" marL="0">
              <a:buNone/>
            </a:pPr>
            <a:r>
              <a:rPr lang="en-US" sz="1600" dirty="0">
                <a:solidFill>
                  <a:schemeClr val="bg1"/>
                </a:solidFill>
              </a:rPr>
              <a:t>From A: B = 3, C = 2, D = 8, E = 10, F = 13. Path to F: A→C→B→D→E→F.</a:t>
            </a:r>
            <a:endParaRPr lang="en-US" sz="1600" dirty="0"/>
          </a:p>
        </p:txBody>
      </p:sp>
      <p:sp>
        <p:nvSpPr>
          <p:cNvPr id="10" name="Shape 7"/>
          <p:cNvSpPr/>
          <p:nvPr/>
        </p:nvSpPr>
        <p:spPr>
          <a:xfrm>
            <a:off x="457200" y="2651760"/>
            <a:ext cx="4023360" cy="1325880"/>
          </a:xfrm>
          <a:prstGeom prst="roundRect">
            <a:avLst>
              <a:gd name="adj" fmla="val 8276"/>
            </a:avLst>
          </a:prstGeom>
          <a:solidFill>
            <a:srgbClr val="16305F"/>
          </a:solidFill>
          <a:ln/>
        </p:spPr>
      </p:sp>
      <p:sp>
        <p:nvSpPr>
          <p:cNvPr id="11" name="Text 8"/>
          <p:cNvSpPr txBox="1"/>
          <p:nvPr/>
        </p:nvSpPr>
        <p:spPr>
          <a:xfrm>
            <a:off x="685800" y="2834640"/>
            <a:ext cx="3566160" cy="274320"/>
          </a:xfrm>
          <a:prstGeom prst="rect">
            <a:avLst/>
          </a:prstGeom>
          <a:noFill/>
          <a:ln/>
        </p:spPr>
        <p:txBody>
          <a:bodyPr wrap="square" lIns="0" tIns="0" rIns="0" bIns="0" rtlCol="0" anchor="t"/>
          <a:lstStyle/>
          <a:p>
            <a:pPr indent="0" marL="0">
              <a:buNone/>
            </a:pPr>
            <a:r>
              <a:rPr lang="en-US" sz="1300" b="1" dirty="0">
                <a:solidFill>
                  <a:schemeClr val="accent2"/>
                </a:solidFill>
              </a:rPr>
              <a:t>COMPLEXITY</a:t>
            </a:r>
            <a:endParaRPr lang="en-US" sz="1300" dirty="0"/>
          </a:p>
        </p:txBody>
      </p:sp>
      <p:sp>
        <p:nvSpPr>
          <p:cNvPr id="12" name="Text 9"/>
          <p:cNvSpPr txBox="1"/>
          <p:nvPr/>
        </p:nvSpPr>
        <p:spPr>
          <a:xfrm>
            <a:off x="685800" y="3200400"/>
            <a:ext cx="3566160" cy="731520"/>
          </a:xfrm>
          <a:prstGeom prst="rect">
            <a:avLst/>
          </a:prstGeom>
          <a:noFill/>
          <a:ln/>
        </p:spPr>
        <p:txBody>
          <a:bodyPr wrap="square" lIns="0" tIns="0" rIns="0" bIns="0" rtlCol="0" anchor="t"/>
          <a:lstStyle/>
          <a:p>
            <a:pPr indent="0" marL="0">
              <a:buNone/>
            </a:pPr>
            <a:r>
              <a:rPr lang="en-US" sz="1600" dirty="0">
                <a:solidFill>
                  <a:schemeClr val="bg1"/>
                </a:solidFill>
              </a:rPr>
              <a:t>O(V²) with an array; O((V + E) log V) with a min-heap; O(V + E) space.</a:t>
            </a:r>
            <a:endParaRPr lang="en-US" sz="1600" dirty="0"/>
          </a:p>
        </p:txBody>
      </p:sp>
      <p:sp>
        <p:nvSpPr>
          <p:cNvPr id="13" name="Shape 10"/>
          <p:cNvSpPr/>
          <p:nvPr/>
        </p:nvSpPr>
        <p:spPr>
          <a:xfrm>
            <a:off x="4663440" y="2651760"/>
            <a:ext cx="4023360" cy="1325880"/>
          </a:xfrm>
          <a:prstGeom prst="roundRect">
            <a:avLst>
              <a:gd name="adj" fmla="val 8276"/>
            </a:avLst>
          </a:prstGeom>
          <a:solidFill>
            <a:srgbClr val="16305F"/>
          </a:solidFill>
          <a:ln/>
        </p:spPr>
      </p:sp>
      <p:sp>
        <p:nvSpPr>
          <p:cNvPr id="14" name="Text 11"/>
          <p:cNvSpPr txBox="1"/>
          <p:nvPr/>
        </p:nvSpPr>
        <p:spPr>
          <a:xfrm>
            <a:off x="4892040" y="2834640"/>
            <a:ext cx="3566160" cy="274320"/>
          </a:xfrm>
          <a:prstGeom prst="rect">
            <a:avLst/>
          </a:prstGeom>
          <a:noFill/>
          <a:ln/>
        </p:spPr>
        <p:txBody>
          <a:bodyPr wrap="square" lIns="0" tIns="0" rIns="0" bIns="0" rtlCol="0" anchor="t"/>
          <a:lstStyle/>
          <a:p>
            <a:pPr indent="0" marL="0">
              <a:buNone/>
            </a:pPr>
            <a:r>
              <a:rPr lang="en-US" sz="1300" b="1" dirty="0">
                <a:solidFill>
                  <a:schemeClr val="accent2"/>
                </a:solidFill>
              </a:rPr>
              <a:t>WHY IT MATTERS</a:t>
            </a:r>
            <a:endParaRPr lang="en-US" sz="1300" dirty="0"/>
          </a:p>
        </p:txBody>
      </p:sp>
      <p:sp>
        <p:nvSpPr>
          <p:cNvPr id="15" name="Text 12"/>
          <p:cNvSpPr txBox="1"/>
          <p:nvPr/>
        </p:nvSpPr>
        <p:spPr>
          <a:xfrm>
            <a:off x="4892040" y="3200400"/>
            <a:ext cx="3566160" cy="731520"/>
          </a:xfrm>
          <a:prstGeom prst="rect">
            <a:avLst/>
          </a:prstGeom>
          <a:noFill/>
          <a:ln/>
        </p:spPr>
        <p:txBody>
          <a:bodyPr wrap="square" lIns="0" tIns="0" rIns="0" bIns="0" rtlCol="0" anchor="t"/>
          <a:lstStyle/>
          <a:p>
            <a:pPr indent="0" marL="0">
              <a:buNone/>
            </a:pPr>
            <a:r>
              <a:rPr lang="en-US" sz="1600" dirty="0">
                <a:solidFill>
                  <a:schemeClr val="bg1"/>
                </a:solidFill>
              </a:rPr>
              <a:t>Powers GPS, internet routing, networks, transport planning and robotics.</a:t>
            </a:r>
            <a:endParaRPr lang="en-US" sz="1600" dirty="0"/>
          </a:p>
        </p:txBody>
      </p:sp>
      <p:sp>
        <p:nvSpPr>
          <p:cNvPr id="16" name="Text 13"/>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2400" b="1" dirty="0">
                <a:solidFill>
                  <a:schemeClr val="accent2"/>
                </a:solidFill>
              </a:rPr>
              <a:t>Thank you — Questions?</a:t>
            </a:r>
            <a:endParaRPr lang="en-US" sz="2400" dirty="0"/>
          </a:p>
        </p:txBody>
      </p:sp>
    </p:spTree>
  </p:cSld>
  <p:clrMapOvr>
    <a:masterClrMapping/>
  </p:clrMapOvr>
</p:sld>
</file>

<file path=ppt/theme/theme1.xml><?xml version="1.0" encoding="utf-8"?>
<a:theme xmlns:a="http://schemas.openxmlformats.org/drawingml/2006/main" name="DAA Navy">
  <a:themeElements>
    <a:clrScheme name="DAA Navy">
      <a:dk1>
        <a:srgbClr val="0B1B3A"/>
      </a:dk1>
      <a:lt1>
        <a:srgbClr val="FFFFFF"/>
      </a:lt1>
      <a:dk2>
        <a:srgbClr val="16305F"/>
      </a:dk2>
      <a:lt2>
        <a:srgbClr val="EAF2FF"/>
      </a:lt2>
      <a:accent1>
        <a:srgbClr val="2F80ED"/>
      </a:accent1>
      <a:accent2>
        <a:srgbClr val="22D3EE"/>
      </a:accent2>
      <a:accent3>
        <a:srgbClr val="F59E0B"/>
      </a:accent3>
      <a:accent4>
        <a:srgbClr val="16A34A"/>
      </a:accent4>
      <a:accent5>
        <a:srgbClr val="DC2626"/>
      </a:accent5>
      <a:accent6>
        <a:srgbClr val="64748B"/>
      </a:accent6>
      <a:hlink>
        <a:srgbClr val="2F80ED"/>
      </a:hlink>
      <a:folHlink>
        <a:srgbClr val="64748B"/>
      </a:folHlink>
    </a:clrScheme>
    <a:fontScheme name="DAA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Dijkstra's Algorithm — Finding the Shortest Path</dc:title>
  <dc:subject>Design and Analysis of Algorithms</dc:subject>
  <dc:creator>PptxGenJS</dc:creator>
  <cp:lastModifiedBy>PptxGenJS</cp:lastModifiedBy>
  <cp:revision>1</cp:revision>
  <dcterms:created xsi:type="dcterms:W3CDTF">2026-10-19T05:24:28Z</dcterms:created>
  <dcterms:modified xsi:type="dcterms:W3CDTF">2026-10-19T05:24:28Z</dcterms:modified>
</cp:coreProperties>
</file>